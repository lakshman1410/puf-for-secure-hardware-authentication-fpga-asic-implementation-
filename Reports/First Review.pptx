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6"/>
  </p:notesMasterIdLst>
  <p:sldIdLst>
    <p:sldId id="261" r:id="rId5"/>
    <p:sldId id="304" r:id="rId6"/>
    <p:sldId id="280" r:id="rId7"/>
    <p:sldId id="291" r:id="rId8"/>
    <p:sldId id="289" r:id="rId9"/>
    <p:sldId id="263" r:id="rId10"/>
    <p:sldId id="290" r:id="rId11"/>
    <p:sldId id="279" r:id="rId12"/>
    <p:sldId id="301" r:id="rId13"/>
    <p:sldId id="302" r:id="rId14"/>
    <p:sldId id="303" r:id="rId15"/>
    <p:sldId id="292" r:id="rId16"/>
    <p:sldId id="293" r:id="rId17"/>
    <p:sldId id="294" r:id="rId18"/>
    <p:sldId id="296" r:id="rId19"/>
    <p:sldId id="297" r:id="rId20"/>
    <p:sldId id="299" r:id="rId21"/>
    <p:sldId id="260" r:id="rId22"/>
    <p:sldId id="281" r:id="rId23"/>
    <p:sldId id="282" r:id="rId24"/>
    <p:sldId id="25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A41D1F-6C2E-4A9D-A4F4-E5EA80E71FC6}" v="106" dt="2025-08-21T18:48:44.5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3725" autoAdjust="0"/>
  </p:normalViewPr>
  <p:slideViewPr>
    <p:cSldViewPr snapToGrid="0">
      <p:cViewPr varScale="1">
        <p:scale>
          <a:sx n="77" d="100"/>
          <a:sy n="77" d="100"/>
        </p:scale>
        <p:origin x="91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86681D-7503-4C80-A3BE-FFF690FE564A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E86CB-CBCB-4DA2-9577-1F846804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482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3B340-7ED3-EFB8-A275-1E952B837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C088C8-2CC6-6F89-C178-9430B345E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44163-56AA-3594-2F32-3659240D5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9D061-A14E-46CE-9FB6-0E49DF4B7BA0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8ABB0-D31F-AB31-91EA-029A7164F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68945-5910-C5E7-E57F-7C603CAC5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48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1131B-772A-512E-732E-F631288D8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D00E1-0080-552C-E780-89F1ADF40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85DD0-0C27-6863-7DB3-255B5473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520E1-BB5E-422A-86E5-3E31004346ED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0CA44-7710-58FC-AB67-7100A0AE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7DAC2-6F3B-6D71-B9AD-21D5761A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06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5F2F6-3E88-8451-BD41-BBF788B56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43E50-E408-7797-F89C-E20419CEE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19DAF-D4A9-81A5-5E0B-D9CE1A3F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B425F-3DB9-4774-86E8-572ECFA137AB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1734B-D908-EBB0-16D8-42FFD94B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77A44-DC1C-A7EC-4B74-7F8A26095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62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0E1E6-0582-CE75-E5D1-5943CA9C5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5B96A-1C66-70D2-D8B0-9405C9A0E9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4E488-0DD1-C197-6750-A7B38E8D3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34A54-344C-3517-0A05-0936A6C21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6677A-1FA7-4ACA-B091-BD1E8791D5A7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3D402-BBFC-BF5D-3C1E-ED2D4A591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F903F-3FDE-495E-78E0-7FC95B942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0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B3912-6E6F-8912-9861-4520867C3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15643-6370-5FFA-2C6D-7ACF4C57F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2CF07-4D19-2340-7822-757A77F1F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31555E-F458-F946-22B7-E4A04A619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51E1E5-1674-0A63-4CE2-A06289D21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278EC2-4AAF-5A68-6B0D-DB6DB2E60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B824-4714-4129-8AF6-403A74F7C102}" type="datetime1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5FE90B-1F5E-28A1-2E18-AC500648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6E1A41-8BCF-7114-9090-78DBF24F3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87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1B9A1-E543-9F76-88AF-F67CD5FFA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6D779-5DE9-3042-8548-83336B1DB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C4C4-D661-423B-A144-986ED2214CAA}" type="datetime1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3B6602-5A6A-7329-8112-8F74E787B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38D7F-01BC-4A51-77FC-B6882C4B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10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6B6FD-AF85-CFF1-390C-E4A09943A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500EA-DB37-425A-B3EE-A1FFBF594214}" type="datetime1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6C8A6-F329-9E22-96C5-DCDB930EA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67A9D-CD44-DBC9-EC9C-D91550789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00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B3752-CCA2-3892-2C41-C28BDC674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81347-4D92-9ABF-1926-3A418BD2A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1061D-7170-656D-6F2F-58C518150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E06B0-C9DD-A689-C2EA-40AEB4A0A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1C0DF-A739-4675-9F5D-EDDC57D34DDC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FA4F1-23B7-920C-F295-F366A43E7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856CA-B708-A49C-4F88-CB8C32C02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366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75300-4F14-2D75-7E90-8017E9FA5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D2A702-B311-A33B-F583-D4818BC54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B7CCA5-BA08-263C-8141-E32B7EA2C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73656-9453-5C13-508D-B6B5099BC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7C97-3617-4A7F-9AB2-A12B17973EE9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F560E-4B9D-EEAB-F7AF-4FC2FA19B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EB3EC-EF31-1C0D-B03B-9200173DB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2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67F9-D924-1CB9-BFD0-2686604A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07C56-F0CF-C8FB-1D77-A26756C33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75CA9-B1FF-45C6-0BB7-63850228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3EA0-0EA7-4052-8FEF-378493996435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FAAE7-4AFC-31E0-2604-6F3445BA0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2FCE9-CA44-0DD1-853F-7590D3692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3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46FD15-E4FC-10D0-230B-BB440214ED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AABD07-6CA9-2943-77F7-62F0CDB02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46E24-F508-422C-1155-764686D2C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BE3CF-4E09-4AF8-9889-0F5A8738242A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4DAF3-E067-B45E-52E2-60F5ECCCA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35C18-2ACB-8566-87A1-79FCFDCC1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48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F9B02B-0E20-E958-8A7E-AEEC1EE1E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AD715-C174-6B78-17F4-10D6EC398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078F9-57A2-39CF-B29A-9A367F88B9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B1C9F-940D-450E-BD5E-E836A4996EE0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1F574-34BB-8454-F281-AD2383722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FIRST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DB143-6D95-866E-E6CE-AC4A2E24C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06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0D273-2383-949F-806D-D751F0513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1924" y="1444186"/>
            <a:ext cx="10468151" cy="174276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DEVELOPMENT OF PUF FOR HARDWARE SECURITY UPDATE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B2B49-E6C8-0DD6-3778-340B5FD59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5437" y="269855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7F31E10F-95F0-7A07-CA73-57D13D23E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13" y="242947"/>
            <a:ext cx="1638850" cy="11124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26F840-8897-05F9-BC4F-CF00838E71C1}"/>
              </a:ext>
            </a:extLst>
          </p:cNvPr>
          <p:cNvSpPr txBox="1"/>
          <p:nvPr/>
        </p:nvSpPr>
        <p:spPr>
          <a:xfrm>
            <a:off x="2" y="358688"/>
            <a:ext cx="121919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ENGINEERING</a:t>
            </a: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 CAMPUS, ANNA UNIVERSITY</a:t>
            </a: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: 2022-2026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DCEFBBB-B99A-0ECB-340C-3093E0A73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8707" y="3615489"/>
            <a:ext cx="4614644" cy="1963020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Navabharathi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  (2022504526)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Dharshan R        (2022504517)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Lakshmanan S   (2022504310)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43D489D0-1078-EF6A-F5CF-0500D4C69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110" y="3615489"/>
            <a:ext cx="4712965" cy="2081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buSzPct val="100000"/>
            </a:pPr>
            <a:r>
              <a:rPr lang="en-US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 eaLnBrk="1" hangingPunct="1"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V. R. Vijaykumar,</a:t>
            </a:r>
          </a:p>
          <a:p>
            <a:pPr algn="just" eaLnBrk="1" hangingPunct="1"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Professor,</a:t>
            </a:r>
          </a:p>
          <a:p>
            <a:pPr algn="just" eaLnBrk="1" hangingPunct="1"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Engineering,</a:t>
            </a:r>
          </a:p>
          <a:p>
            <a:pPr algn="just" eaLnBrk="1" hangingPunct="1"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Madras Institute of Technology,</a:t>
            </a:r>
          </a:p>
          <a:p>
            <a:pPr algn="just" eaLnBrk="1" hangingPunct="1"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 University.</a:t>
            </a:r>
          </a:p>
          <a:p>
            <a:pPr algn="just" eaLnBrk="1" hangingPunct="1"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6406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14116-A0D0-F4D0-4CE2-1F4EE4FE9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986E1-274E-2BB8-1D1F-E3E443193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3460" y="1785836"/>
            <a:ext cx="11125200" cy="475307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PUF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Progress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PUF Metrics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E557F7-BFED-FB5C-35D2-428BAB08A57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C24811-2AD4-4B24-B3B6-D4B7042FF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0190" y="145180"/>
            <a:ext cx="1066540" cy="1058591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7733C2A1-7E01-41AD-6BC7-CA92181E3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12" y="145180"/>
            <a:ext cx="1559567" cy="10585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EBCB3-2200-54E9-8384-91C5B99D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302DF-DF0E-4EDA-A099-0AF4BE0839B5}" type="datetime1">
              <a:rPr lang="en-US" smtClean="0"/>
              <a:t>8/22/2025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A0E0A-FA92-58BB-299F-B4D285F9F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3BE6B7-063B-B9BE-6F25-A0FFDD7C6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782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6572A-C0FD-10C5-101D-CB7B092DD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70744"/>
            <a:ext cx="11125200" cy="475307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hardware devices like smart cards, IoT devices, and medical instruments are increasingly targeted by reverse engineering, cloning, and side-channel attacks, posing serious threats to device identity and digital trust.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2023, a global investigation revealed over 1 billion counterfeit electronic components infiltrating critical sectors such as military, automotive, and healthcare. These fake chips endangered national security, as they could be maliciously modified or fail during operation.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Though there are traditional hardware security methods, like fuses or non-volatile memory (NVM) for key storage, they are vulnerable to physical attacks. Once the memory is read or duplicated, the entire system is compromised.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Physically Unclonable Functions (PUFs) offer a novel, low-power, and tamper-evident solution by leveraging random manufacturing variations in silicon. This enables unique, unclonable hardware IDs, removing the need to store sensitive keys—making it ideal for lightweight, embedded security systems.</a:t>
            </a:r>
          </a:p>
          <a:p>
            <a:pPr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4CD470D-E591-41CF-D6F3-D8F506172B9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2B2B49-E6C8-0DD6-3778-340B5FD59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0190" y="145180"/>
            <a:ext cx="1066540" cy="1058591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7F31E10F-95F0-7A07-CA73-57D13D23E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12" y="145180"/>
            <a:ext cx="1559567" cy="105859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08/22/2025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992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661E7-C01E-9DE3-37CA-A3CEFE823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D3C70-C692-904A-7EED-8AA4D7ED1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603274"/>
            <a:ext cx="11125200" cy="475307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To develop a robust Arbiter PUF using Verilog HDL.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To analyze the uniqueness of the Arbiter PUF by generating responses to multiple challenges and comparing the responses across different PUF instances.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To evaluate various PUF metrices such as Inter-chip variation, Intra-chip variation, uniformity, reliability and bit-aliasing.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To implement the developed Arbiter PUF in  FPGA platform, focusing on validating its functionality.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2AC2F-8B7F-813E-B551-089244B2E5E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5C3B11-A39B-84FF-EA13-86DC21AA9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0190" y="145180"/>
            <a:ext cx="1066540" cy="1058591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B69D84FC-CE4C-FAE9-46C0-40D588BBA5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12" y="145180"/>
            <a:ext cx="1559567" cy="10585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BF328-6A4B-6F8E-4A4F-078830FE2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08/22/2025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657BE-EF41-ADD9-F322-7C76DEF78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2C98F-9906-7B89-87B2-313F62CE3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833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6572A-C0FD-10C5-101D-CB7B092DD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70744"/>
            <a:ext cx="11125200" cy="4753076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Physically Unclonable Function (PUF) is a hardware-specific security primitive designed to provide cryptographic functionalities such as secure key generation and device authentication, especially for embedded and IoT systems.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physical structure of a PUF is simple to manufacture but extremely difficult or impossible to replicate, due to uncontrollable variations in the semiconductor fabrication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process.While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many systems use binary classification (real vs. fake), this approach can be limiting.</a:t>
            </a: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PUF generates a unique output, known as a response, to a given input challenge, based on the intrinsic physical differences present in each Integrated Circuit (IC). These responses are used as digital fingerprints for secure and tamper-resistant identification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4CD470D-E591-41CF-D6F3-D8F506172B9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2B2B49-E6C8-0DD6-3778-340B5FD59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0190" y="145180"/>
            <a:ext cx="1066540" cy="1058591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7F31E10F-95F0-7A07-CA73-57D13D23E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12" y="145180"/>
            <a:ext cx="1559567" cy="1058591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08/22/2025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53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FC50-5068-81E2-E880-D673D16DB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48337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7D935-74CA-931B-B53F-F4DB6C830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9181" y="27801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A0B86429-D583-EDAA-B004-524296F0A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3969" y="27801"/>
            <a:ext cx="1638850" cy="1112406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4C048DC-D39F-8DE8-2447-14FF63306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573464"/>
              </p:ext>
            </p:extLst>
          </p:nvPr>
        </p:nvGraphicFramePr>
        <p:xfrm>
          <a:off x="345526" y="1114192"/>
          <a:ext cx="11500945" cy="573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452">
                  <a:extLst>
                    <a:ext uri="{9D8B030D-6E8A-4147-A177-3AD203B41FA5}">
                      <a16:colId xmlns:a16="http://schemas.microsoft.com/office/drawing/2014/main" val="4223420500"/>
                    </a:ext>
                  </a:extLst>
                </a:gridCol>
                <a:gridCol w="2488994">
                  <a:extLst>
                    <a:ext uri="{9D8B030D-6E8A-4147-A177-3AD203B41FA5}">
                      <a16:colId xmlns:a16="http://schemas.microsoft.com/office/drawing/2014/main" val="3791239157"/>
                    </a:ext>
                  </a:extLst>
                </a:gridCol>
                <a:gridCol w="1965903">
                  <a:extLst>
                    <a:ext uri="{9D8B030D-6E8A-4147-A177-3AD203B41FA5}">
                      <a16:colId xmlns:a16="http://schemas.microsoft.com/office/drawing/2014/main" val="1202851857"/>
                    </a:ext>
                  </a:extLst>
                </a:gridCol>
                <a:gridCol w="2862469">
                  <a:extLst>
                    <a:ext uri="{9D8B030D-6E8A-4147-A177-3AD203B41FA5}">
                      <a16:colId xmlns:a16="http://schemas.microsoft.com/office/drawing/2014/main" val="3058503411"/>
                    </a:ext>
                  </a:extLst>
                </a:gridCol>
                <a:gridCol w="3350127">
                  <a:extLst>
                    <a:ext uri="{9D8B030D-6E8A-4147-A177-3AD203B41FA5}">
                      <a16:colId xmlns:a16="http://schemas.microsoft.com/office/drawing/2014/main" val="2990266944"/>
                    </a:ext>
                  </a:extLst>
                </a:gridCol>
              </a:tblGrid>
              <a:tr h="810301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DETAILS WITH YEAR</a:t>
                      </a:r>
                    </a:p>
                    <a:p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 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721468"/>
                  </a:ext>
                </a:extLst>
              </a:tr>
              <a:tr h="2025752">
                <a:tc>
                  <a:txBody>
                    <a:bodyPr/>
                    <a:lstStyle/>
                    <a:p>
                      <a:pPr algn="just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Hemavathy and</a:t>
                      </a:r>
                    </a:p>
                    <a:p>
                      <a:pPr algn="l"/>
                      <a:r>
                        <a:rPr lang="sv-S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 S. Kanchana Bhaaskaran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en-IN" alt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Arbiter PUF—A Review of Design, Composition, and Security Aspects</a:t>
                      </a:r>
                      <a:endParaRPr kumimoji="0" lang="en-I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nl-NL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Access, vol. 11, pp. 33979–33993, 2023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Inference: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Provided a comprehensive review of Arbiter PUF designs, metrics, and their resilience against ML attacks.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Many existing PUF architectures are still susceptible to deep learning and side-channel modeling.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85539"/>
                  </a:ext>
                </a:extLst>
              </a:tr>
              <a:tr h="2241833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Sivappriya Manivannan, Rajat Subhra Chakraborty, Indrajit Chakrabarti, and Jothi Ramalingam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“Practical and Efficient PUF-Based Protocol for Authentication and Key Agreement in IoT”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Embedded Systems Letters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vol. 16, no. 2, pp. 118–121, 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49530"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Inference: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lightweight authentication and key agreement protocol using Arbiter PUF, Fuzzy Extractor, and ECDH.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Problem Identified: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Conventional systems store large CRP sets or require pairing operations—both unsuitable for IoT.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933848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08/22/2025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382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FC50-5068-81E2-E880-D673D16DB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48337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7D935-74CA-931B-B53F-F4DB6C830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9181" y="27801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A0B86429-D583-EDAA-B004-524296F0A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3969" y="27801"/>
            <a:ext cx="1638850" cy="1112406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4C048DC-D39F-8DE8-2447-14FF63306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313424"/>
              </p:ext>
            </p:extLst>
          </p:nvPr>
        </p:nvGraphicFramePr>
        <p:xfrm>
          <a:off x="327260" y="1222410"/>
          <a:ext cx="11500945" cy="517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452">
                  <a:extLst>
                    <a:ext uri="{9D8B030D-6E8A-4147-A177-3AD203B41FA5}">
                      <a16:colId xmlns:a16="http://schemas.microsoft.com/office/drawing/2014/main" val="4223420500"/>
                    </a:ext>
                  </a:extLst>
                </a:gridCol>
                <a:gridCol w="2488994">
                  <a:extLst>
                    <a:ext uri="{9D8B030D-6E8A-4147-A177-3AD203B41FA5}">
                      <a16:colId xmlns:a16="http://schemas.microsoft.com/office/drawing/2014/main" val="3791239157"/>
                    </a:ext>
                  </a:extLst>
                </a:gridCol>
                <a:gridCol w="2433042">
                  <a:extLst>
                    <a:ext uri="{9D8B030D-6E8A-4147-A177-3AD203B41FA5}">
                      <a16:colId xmlns:a16="http://schemas.microsoft.com/office/drawing/2014/main" val="1202851857"/>
                    </a:ext>
                  </a:extLst>
                </a:gridCol>
                <a:gridCol w="2271645">
                  <a:extLst>
                    <a:ext uri="{9D8B030D-6E8A-4147-A177-3AD203B41FA5}">
                      <a16:colId xmlns:a16="http://schemas.microsoft.com/office/drawing/2014/main" val="3058503411"/>
                    </a:ext>
                  </a:extLst>
                </a:gridCol>
                <a:gridCol w="3473812">
                  <a:extLst>
                    <a:ext uri="{9D8B030D-6E8A-4147-A177-3AD203B41FA5}">
                      <a16:colId xmlns:a16="http://schemas.microsoft.com/office/drawing/2014/main" val="2990266944"/>
                    </a:ext>
                  </a:extLst>
                </a:gridCol>
              </a:tblGrid>
              <a:tr h="83499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DETAILS WITH YEAR</a:t>
                      </a:r>
                    </a:p>
                    <a:p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 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721468"/>
                  </a:ext>
                </a:extLst>
              </a:tr>
              <a:tr h="1878698">
                <a:tc>
                  <a:txBody>
                    <a:bodyPr/>
                    <a:lstStyle/>
                    <a:p>
                      <a:pPr algn="just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Jim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Plusquellic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Eirini Eleni Tsiropoulou, and Cyrus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Minwalla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“Privacy-Preserving Authentication Protocols for IoT Devices Using the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SiRF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PUF”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Emerging Topics in Computing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vol. 11, no. 4, pp. 918–931,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Inference: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COBRA and PARCE protocols using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SiRF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PUF that enhance privacy without leaking CRPs.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Problem Identified: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Conventional strong PUFs are vulnerable to model-building and response-leakage attacks.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85539"/>
                  </a:ext>
                </a:extLst>
              </a:tr>
              <a:tr h="2216940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Fadi Farha,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Huansheng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Ning, Karim Ali, Liming Chen, and Christopher Nugent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“SRAM-PUF-Based Entities Authentication Scheme for Resource-Constrained IoT Devices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Internet of Things Journal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vol. 8, no. 7, pp. 5904–5914,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I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49530"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Inference: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lightweight SRAM-PUF authentication scheme suitable for low-power IoT devices.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Problem Identified: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SRAM-PUFs suffer from noise and entropy issues, especially under changing environmental conditions.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933848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08/22/2025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07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9A0ED-0611-4239-3554-1825955B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8093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1C12A2-3AE2-DB49-EBEC-6DD61243F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08/22/2025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4C8149-0B8E-9B90-8A5C-7832A9392978}"/>
              </a:ext>
            </a:extLst>
          </p:cNvPr>
          <p:cNvSpPr/>
          <p:nvPr/>
        </p:nvSpPr>
        <p:spPr>
          <a:xfrm>
            <a:off x="749682" y="1672036"/>
            <a:ext cx="1834492" cy="89519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Challenge (n-bit)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1D4080-E352-0E2E-D14B-F6F9C459BBB6}"/>
              </a:ext>
            </a:extLst>
          </p:cNvPr>
          <p:cNvSpPr/>
          <p:nvPr/>
        </p:nvSpPr>
        <p:spPr>
          <a:xfrm>
            <a:off x="6416122" y="1636333"/>
            <a:ext cx="2267148" cy="96659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 Network (Controlled by Challenge)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1534DD-3882-FC89-D664-FB3CDA05C907}"/>
              </a:ext>
            </a:extLst>
          </p:cNvPr>
          <p:cNvSpPr/>
          <p:nvPr/>
        </p:nvSpPr>
        <p:spPr>
          <a:xfrm>
            <a:off x="1612770" y="3392969"/>
            <a:ext cx="1856426" cy="6450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Majority Voter (N_REP)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E19519A-88A3-C528-38A8-F8032BF907FF}"/>
              </a:ext>
            </a:extLst>
          </p:cNvPr>
          <p:cNvSpPr/>
          <p:nvPr/>
        </p:nvSpPr>
        <p:spPr>
          <a:xfrm>
            <a:off x="8081927" y="3354295"/>
            <a:ext cx="2364162" cy="73832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Race Paths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FB42412-D6A3-346F-2199-ADD106E420C5}"/>
              </a:ext>
            </a:extLst>
          </p:cNvPr>
          <p:cNvSpPr/>
          <p:nvPr/>
        </p:nvSpPr>
        <p:spPr>
          <a:xfrm>
            <a:off x="4632011" y="3424357"/>
            <a:ext cx="2267835" cy="57539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Arbiter (Time Comparator)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AFC6071-C693-FD23-86DA-F4D5C48243E2}"/>
              </a:ext>
            </a:extLst>
          </p:cNvPr>
          <p:cNvSpPr/>
          <p:nvPr/>
        </p:nvSpPr>
        <p:spPr>
          <a:xfrm>
            <a:off x="3409067" y="1749360"/>
            <a:ext cx="2095696" cy="72162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 Register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D6BC478-D26F-9A2B-2D63-763A24C04301}"/>
              </a:ext>
            </a:extLst>
          </p:cNvPr>
          <p:cNvSpPr/>
          <p:nvPr/>
        </p:nvSpPr>
        <p:spPr>
          <a:xfrm>
            <a:off x="9771542" y="1660456"/>
            <a:ext cx="1629076" cy="89519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 Line Stages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72AF190-DCA2-7006-1949-F8E7BD42B845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 flipV="1">
            <a:off x="2584174" y="2110173"/>
            <a:ext cx="824893" cy="9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9FE4B30-7012-CA3B-7509-D0841ABAE7CE}"/>
              </a:ext>
            </a:extLst>
          </p:cNvPr>
          <p:cNvCxnSpPr>
            <a:cxnSpLocks/>
            <a:stCxn id="15" idx="3"/>
            <a:endCxn id="10" idx="1"/>
          </p:cNvCxnSpPr>
          <p:nvPr/>
        </p:nvCxnSpPr>
        <p:spPr>
          <a:xfrm>
            <a:off x="5504763" y="2110173"/>
            <a:ext cx="911359" cy="9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FD5B0D6-A6E2-A371-A6AD-10D712203087}"/>
              </a:ext>
            </a:extLst>
          </p:cNvPr>
          <p:cNvCxnSpPr>
            <a:cxnSpLocks/>
            <a:stCxn id="10" idx="3"/>
            <a:endCxn id="16" idx="1"/>
          </p:cNvCxnSpPr>
          <p:nvPr/>
        </p:nvCxnSpPr>
        <p:spPr>
          <a:xfrm flipV="1">
            <a:off x="8683270" y="2108052"/>
            <a:ext cx="1088272" cy="11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745F1D7-2DB8-2BB1-F2F6-BAA86D7EADD9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11400618" y="2103322"/>
            <a:ext cx="208286" cy="47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4BF764C-E192-014E-CD4B-A2AD9B45C53F}"/>
              </a:ext>
            </a:extLst>
          </p:cNvPr>
          <p:cNvCxnSpPr>
            <a:cxnSpLocks/>
          </p:cNvCxnSpPr>
          <p:nvPr/>
        </p:nvCxnSpPr>
        <p:spPr>
          <a:xfrm>
            <a:off x="11608904" y="2114902"/>
            <a:ext cx="0" cy="16259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7503758-BE4C-3A96-A8CB-E753BC3DDC2E}"/>
              </a:ext>
            </a:extLst>
          </p:cNvPr>
          <p:cNvCxnSpPr>
            <a:cxnSpLocks/>
          </p:cNvCxnSpPr>
          <p:nvPr/>
        </p:nvCxnSpPr>
        <p:spPr>
          <a:xfrm flipH="1">
            <a:off x="10446089" y="3740881"/>
            <a:ext cx="11628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2EBBF32-7358-E51E-42E1-C3EEEDBCF208}"/>
              </a:ext>
            </a:extLst>
          </p:cNvPr>
          <p:cNvCxnSpPr>
            <a:cxnSpLocks/>
            <a:stCxn id="12" idx="1"/>
            <a:endCxn id="13" idx="3"/>
          </p:cNvCxnSpPr>
          <p:nvPr/>
        </p:nvCxnSpPr>
        <p:spPr>
          <a:xfrm flipH="1" flipV="1">
            <a:off x="6899846" y="3712056"/>
            <a:ext cx="1182081" cy="11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5F98F2E-863E-E55B-1AE2-168B4514F0C9}"/>
              </a:ext>
            </a:extLst>
          </p:cNvPr>
          <p:cNvCxnSpPr>
            <a:cxnSpLocks/>
            <a:stCxn id="13" idx="1"/>
            <a:endCxn id="11" idx="3"/>
          </p:cNvCxnSpPr>
          <p:nvPr/>
        </p:nvCxnSpPr>
        <p:spPr>
          <a:xfrm flipH="1">
            <a:off x="3469196" y="3712056"/>
            <a:ext cx="1162815" cy="3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51F1E82-3A6E-A1A3-BFEE-442884FD69A9}"/>
              </a:ext>
            </a:extLst>
          </p:cNvPr>
          <p:cNvSpPr/>
          <p:nvPr/>
        </p:nvSpPr>
        <p:spPr>
          <a:xfrm>
            <a:off x="1612770" y="4789281"/>
            <a:ext cx="1856426" cy="6450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Stable Output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(1-bit)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F9EAF5B-7EA9-6E14-CCD9-5423D9DF416C}"/>
              </a:ext>
            </a:extLst>
          </p:cNvPr>
          <p:cNvCxnSpPr>
            <a:cxnSpLocks/>
            <a:stCxn id="11" idx="2"/>
            <a:endCxn id="18" idx="0"/>
          </p:cNvCxnSpPr>
          <p:nvPr/>
        </p:nvCxnSpPr>
        <p:spPr>
          <a:xfrm>
            <a:off x="2540983" y="4038054"/>
            <a:ext cx="0" cy="751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075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3F53A-4AFF-4AF3-BE65-CE88CA1F2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5E7AF-C1FB-E739-4A9E-1A32A513C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80930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b="1" dirty="0">
                <a:latin typeface="Times New Roman" panose="02020603050405020304" pitchFamily="18" charset="0"/>
              </a:rPr>
              <a:t>TYPES OF PUF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BA6798-7312-B78D-C0D2-3A2006AAE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8678EBAF-5519-D428-9650-2C93058A7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CDB479-B624-2080-8BF8-1A88ACAD5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08/22/2025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313AB-B39F-65FA-6462-E95BECDB2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6A64D-9F0C-CEAF-6A28-B352564E7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9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1C3CD8-E43C-6040-05A9-49C7B8C3677E}"/>
              </a:ext>
            </a:extLst>
          </p:cNvPr>
          <p:cNvSpPr txBox="1"/>
          <p:nvPr/>
        </p:nvSpPr>
        <p:spPr>
          <a:xfrm>
            <a:off x="838200" y="1766462"/>
            <a:ext cx="10114722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 eaLnBrk="1" hangingPunct="1">
              <a:lnSpc>
                <a:spcPct val="150000"/>
              </a:lnSpc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</a:rPr>
              <a:t>PUF maps the input challenge with a unique response, thus creating a challenge-response pair (CRP).</a:t>
            </a:r>
          </a:p>
          <a:p>
            <a:pPr marL="0" indent="0" algn="just" eaLnBrk="1" hangingPunct="1">
              <a:lnSpc>
                <a:spcPct val="150000"/>
              </a:lnSpc>
              <a:buNone/>
              <a:defRPr/>
            </a:pPr>
            <a:r>
              <a:rPr lang="en-US" altLang="en-US" sz="1800" b="1" dirty="0">
                <a:latin typeface="Times New Roman" panose="02020603050405020304" pitchFamily="18" charset="0"/>
              </a:rPr>
              <a:t>WEAK PUF:</a:t>
            </a:r>
          </a:p>
          <a:p>
            <a:pPr marL="342900" indent="-34290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1800" dirty="0">
                <a:latin typeface="Times New Roman" panose="02020603050405020304" pitchFamily="18" charset="0"/>
              </a:rPr>
              <a:t>Limited number of Challenge-Response pairs.</a:t>
            </a:r>
          </a:p>
          <a:p>
            <a:pPr marL="342900" indent="-34290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1800" dirty="0">
                <a:latin typeface="Times New Roman" panose="02020603050405020304" pitchFamily="18" charset="0"/>
              </a:rPr>
              <a:t>Used for cryptographic key generation.</a:t>
            </a:r>
          </a:p>
          <a:p>
            <a:pPr marL="0" indent="0" algn="just" eaLnBrk="1" hangingPunct="1">
              <a:lnSpc>
                <a:spcPct val="150000"/>
              </a:lnSpc>
              <a:buNone/>
              <a:defRPr/>
            </a:pPr>
            <a:r>
              <a:rPr lang="en-US" altLang="en-US" sz="1800" b="1" dirty="0">
                <a:latin typeface="Times New Roman" panose="02020603050405020304" pitchFamily="18" charset="0"/>
              </a:rPr>
              <a:t>STRONG PUF:</a:t>
            </a:r>
          </a:p>
          <a:p>
            <a:pPr marL="342900" indent="-34290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1800" dirty="0">
                <a:latin typeface="Times New Roman" panose="02020603050405020304" pitchFamily="18" charset="0"/>
              </a:rPr>
              <a:t>Large number of CRPs.</a:t>
            </a:r>
          </a:p>
          <a:p>
            <a:pPr marL="342900" indent="-34290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1800" dirty="0">
                <a:latin typeface="Times New Roman" panose="02020603050405020304" pitchFamily="18" charset="0"/>
              </a:rPr>
              <a:t>Used for authentication without using external cryptographic hardware.</a:t>
            </a:r>
          </a:p>
          <a:p>
            <a:pPr marL="342900" indent="-34290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en-US" sz="1800" dirty="0"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979075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D20DC-05FC-FBE2-B29D-06F58D05E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24D37-B583-E964-7C12-828E1B072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80930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b="1" dirty="0">
                <a:latin typeface="Times New Roman" panose="02020603050405020304" pitchFamily="18" charset="0"/>
              </a:rPr>
              <a:t>WEAK PUF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3AA2EA-B933-46D2-31E1-9EF1D6A750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5464E7EE-0C50-B75B-2011-8BA9C89F0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551DB7-F6A8-33B4-5841-2AFB4A000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08/22/2025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E13081-EE2A-DFF2-45B1-975A89BA8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B08A8-EF0E-BCE9-B681-499E63200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10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37F464-CD97-1CEE-201F-CF11FBA4E4C8}"/>
              </a:ext>
            </a:extLst>
          </p:cNvPr>
          <p:cNvSpPr txBox="1"/>
          <p:nvPr/>
        </p:nvSpPr>
        <p:spPr>
          <a:xfrm>
            <a:off x="1339984" y="1622625"/>
            <a:ext cx="7533056" cy="4160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000"/>
              </a:spcAft>
              <a:defRPr/>
            </a:pPr>
            <a:r>
              <a:rPr lang="en-US" altLang="en-US" sz="2000" b="1" dirty="0">
                <a:latin typeface="Times New Roman" panose="02020603050405020304" pitchFamily="18" charset="0"/>
              </a:rPr>
              <a:t>SRAM PUF (Memory based PUF)</a:t>
            </a:r>
          </a:p>
          <a:p>
            <a:pPr marL="342900" indent="-342900"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Power-on state of SRAM cells generates unique Challenge-Response pair.</a:t>
            </a:r>
          </a:p>
          <a:p>
            <a:pPr marL="342900" indent="-342900"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weak PUFs include Butterfly PUF, Ring-Oscillator PUF, etc.</a:t>
            </a:r>
          </a:p>
          <a:p>
            <a:endParaRPr lang="en-IN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A8240FC2-6792-90A4-6AB4-965A74825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8799" y="2558887"/>
            <a:ext cx="4035425" cy="228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589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56847-4835-5CD2-AA5B-B4CDDD389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0A4739-6379-D9BD-5896-CD0B7C129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9F33977A-B486-C243-0806-738BF6A87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1DF51C-9F4B-2216-5C82-DF6AB080B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08/22/2025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F9C873-B20D-3FB0-5C63-77F3228C6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60D9EA-F943-494D-F84D-8E809BE7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11</a:t>
            </a:fld>
            <a:endParaRPr lang="en-US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A1C0212E-5C28-7CDA-A281-8A755B08B3B4}"/>
              </a:ext>
            </a:extLst>
          </p:cNvPr>
          <p:cNvSpPr txBox="1">
            <a:spLocks/>
          </p:cNvSpPr>
          <p:nvPr/>
        </p:nvSpPr>
        <p:spPr>
          <a:xfrm>
            <a:off x="838200" y="136525"/>
            <a:ext cx="10515600" cy="1554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 dirty="0">
                <a:latin typeface="Times New Roman" panose="02020603050405020304" pitchFamily="18" charset="0"/>
              </a:rPr>
              <a:t>STRONG PUF</a:t>
            </a:r>
            <a:endParaRPr lang="en-IN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C330CAD-6A97-7112-250A-8053A6BC8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66152"/>
            <a:ext cx="10747443" cy="4669277"/>
          </a:xfrm>
        </p:spPr>
        <p:txBody>
          <a:bodyPr>
            <a:normAutofit fontScale="92500" lnSpcReduction="20000"/>
          </a:bodyPr>
          <a:lstStyle/>
          <a:p>
            <a:pPr marL="0" indent="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None/>
              <a:defRPr/>
            </a:pPr>
            <a:r>
              <a:rPr lang="en-US" altLang="en-US" sz="2400" b="1" dirty="0">
                <a:latin typeface="Times New Roman" panose="02020603050405020304" pitchFamily="18" charset="0"/>
              </a:rPr>
              <a:t>Arbiter PUF (Delay based PUF)</a:t>
            </a: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 manufacturing variability in gate delay as the source of unclonable randomness i.e. a race condition is established in a symmetric circuit.</a:t>
            </a:r>
          </a:p>
          <a:p>
            <a:pPr marL="0" indent="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None/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strong PUFs include Optical PUF, Feed-Forward Arbiter PUF, etc.</a:t>
            </a:r>
          </a:p>
          <a:p>
            <a:endParaRPr lang="en-IN" sz="2400" dirty="0"/>
          </a:p>
        </p:txBody>
      </p:sp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88ABA48C-597B-769E-4AFD-4498DF986088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BE0DF4BB-E872-56A0-DA5A-06DF58FF73A4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FIRST REVIEW</a:t>
            </a:r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FF9C9CD0-999A-1FC0-8435-AF73CF71C9E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CA96C-9B8F-B941-9AF0-02B5F35F80AE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30" name="Picture 3">
            <a:extLst>
              <a:ext uri="{FF2B5EF4-FFF2-40B4-BE49-F238E27FC236}">
                <a16:creationId xmlns:a16="http://schemas.microsoft.com/office/drawing/2014/main" id="{D3F318E5-DF02-EC43-912D-AA8949A84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1849" y="2725065"/>
            <a:ext cx="6020142" cy="2870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5269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CC484-7CE0-8102-C451-D172DA1E4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0B970-7DF1-86BB-C367-6DF53FAB8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80930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PROGRESS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9F95B0-AD57-1819-49DE-7523683636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0016456A-702A-0110-49D6-6036BC3B2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EFFC6-B9D3-65B4-D73D-EA7219C95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08/22/2025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7B4FC8-A3C2-271E-CF71-D7E450C21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71EE8-D3A8-5AF9-4990-9E4587668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12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9761590-E011-9D33-C5D5-48B68FC6C0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7565" y="1114023"/>
            <a:ext cx="6164560" cy="479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337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8B86F-F435-4473-182A-A17233D18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73353-9ACA-0A39-A0A8-35464497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010" y="0"/>
            <a:ext cx="6849979" cy="138093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UART INTO         	    PUF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11875B-EA3E-53B2-1479-0F67A184D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D73DD318-BDBA-ECA5-0322-F33C468D0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CC374F-947E-0C6F-9F5D-23309F992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08/22/2025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A9E161-C46A-4EDC-A386-CF9230DBC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3959B-1722-AC90-657B-956BEB2B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4C16A2-935F-C77E-BE3E-AD15DDC05C82}"/>
              </a:ext>
            </a:extLst>
          </p:cNvPr>
          <p:cNvSpPr txBox="1"/>
          <p:nvPr/>
        </p:nvSpPr>
        <p:spPr>
          <a:xfrm>
            <a:off x="909745" y="1745253"/>
            <a:ext cx="10372507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UART?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 Asynchronous Receiver/Transmitter (simple serial communication).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only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(Transmit) &amp;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(Receive) lines.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Communicates between FPGA and PC via USB.</a:t>
            </a:r>
          </a:p>
          <a:p>
            <a:pPr algn="just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Add UART to PUF?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Data Collection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Send all 256 PUF responses directly to PC for logging.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Challenge Input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Enter challenges from PC without reprogramming FPGA.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Testing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Quickly gather CRPs from multiple boards.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 Capability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Show challenge–response exchange in real time on terminal.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Evaluation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Easily generate thousands of CRPs for statistical analysis.</a:t>
            </a:r>
          </a:p>
          <a:p>
            <a:pPr algn="just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Setup: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 (Python/Terminal) ⇄ UART ⇄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Basys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FPGA (PUF Module)</a:t>
            </a:r>
          </a:p>
        </p:txBody>
      </p:sp>
    </p:spTree>
    <p:extLst>
      <p:ext uri="{BB962C8B-B14F-4D97-AF65-F5344CB8AC3E}">
        <p14:creationId xmlns:p14="http://schemas.microsoft.com/office/powerpoint/2010/main" val="3708136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7C9D9-5B88-BDDF-D543-4C121EFD8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4DC56-776A-02A6-226B-6588E9725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010" y="0"/>
            <a:ext cx="6849979" cy="138093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INTEGRATION WITH THE PUF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9AE563-9759-10FB-13D1-A10605E00E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1BCCD7F3-5B4B-8997-3A5E-99DD7D35E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81D3EE-7E28-6AFC-38BB-D29C02A41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08/22/2025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CACD34-360A-64AB-CBE0-6F2395DBF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A91AE-7961-987E-75FC-AA729FA79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EC81DD-E315-03BE-5872-E2E0E6763090}"/>
              </a:ext>
            </a:extLst>
          </p:cNvPr>
          <p:cNvSpPr txBox="1"/>
          <p:nvPr/>
        </p:nvSpPr>
        <p:spPr>
          <a:xfrm>
            <a:off x="593557" y="2165508"/>
            <a:ext cx="1100488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UART Module with PUF design for challenge–response communication.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receiving challenges from PC via UART RX.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PUF response for each challenge.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responses back to PC via UART TX for logging and analysis.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data flow between PC ↔ FPGA ↔ PUF in simulation.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for hardware testing with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Basys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FPGA.</a:t>
            </a:r>
          </a:p>
        </p:txBody>
      </p:sp>
    </p:spTree>
    <p:extLst>
      <p:ext uri="{BB962C8B-B14F-4D97-AF65-F5344CB8AC3E}">
        <p14:creationId xmlns:p14="http://schemas.microsoft.com/office/powerpoint/2010/main" val="2739226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E0434-334F-A77B-5999-46F548996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433C9-53EE-B188-607B-CFE42A7FB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010" y="0"/>
            <a:ext cx="6849979" cy="138093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PUF METRICS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4AFF6C-2B77-05F2-1819-93D31BEE2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3A354F57-A9EF-1C06-899E-24CAAD761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97F0C-78E3-83B4-AE23-E0C4FB91B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08/22/2025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ED4F0F-248D-65F5-FD20-CAFBEF97F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2467F-13F7-0B05-AF0C-CDA637BAD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9298A29-5506-1A82-44DC-83DEAD253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767758"/>
              </p:ext>
            </p:extLst>
          </p:nvPr>
        </p:nvGraphicFramePr>
        <p:xfrm>
          <a:off x="2671010" y="1218738"/>
          <a:ext cx="6406320" cy="484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7720">
                  <a:extLst>
                    <a:ext uri="{9D8B030D-6E8A-4147-A177-3AD203B41FA5}">
                      <a16:colId xmlns:a16="http://schemas.microsoft.com/office/drawing/2014/main" val="4007589792"/>
                    </a:ext>
                  </a:extLst>
                </a:gridCol>
                <a:gridCol w="1067720">
                  <a:extLst>
                    <a:ext uri="{9D8B030D-6E8A-4147-A177-3AD203B41FA5}">
                      <a16:colId xmlns:a16="http://schemas.microsoft.com/office/drawing/2014/main" val="4198536211"/>
                    </a:ext>
                  </a:extLst>
                </a:gridCol>
                <a:gridCol w="1067720">
                  <a:extLst>
                    <a:ext uri="{9D8B030D-6E8A-4147-A177-3AD203B41FA5}">
                      <a16:colId xmlns:a16="http://schemas.microsoft.com/office/drawing/2014/main" val="3286219802"/>
                    </a:ext>
                  </a:extLst>
                </a:gridCol>
                <a:gridCol w="1067720">
                  <a:extLst>
                    <a:ext uri="{9D8B030D-6E8A-4147-A177-3AD203B41FA5}">
                      <a16:colId xmlns:a16="http://schemas.microsoft.com/office/drawing/2014/main" val="3062679177"/>
                    </a:ext>
                  </a:extLst>
                </a:gridCol>
                <a:gridCol w="1067720">
                  <a:extLst>
                    <a:ext uri="{9D8B030D-6E8A-4147-A177-3AD203B41FA5}">
                      <a16:colId xmlns:a16="http://schemas.microsoft.com/office/drawing/2014/main" val="3769701247"/>
                    </a:ext>
                  </a:extLst>
                </a:gridCol>
                <a:gridCol w="1067720">
                  <a:extLst>
                    <a:ext uri="{9D8B030D-6E8A-4147-A177-3AD203B41FA5}">
                      <a16:colId xmlns:a16="http://schemas.microsoft.com/office/drawing/2014/main" val="1622513464"/>
                    </a:ext>
                  </a:extLst>
                </a:gridCol>
              </a:tblGrid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Binary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Response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43081368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00000000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21915345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00000001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98673101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00000010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22881096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00000011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75347468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00000100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71273629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00000101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04137442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00000110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29463590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00000111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70305372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00001000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03314818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00001001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22339723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00001010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83697119"/>
                  </a:ext>
                </a:extLst>
              </a:tr>
              <a:tr h="993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00001011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80368670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00001100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70149534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00001101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64024053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00001110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3365305"/>
                  </a:ext>
                </a:extLst>
              </a:tr>
              <a:tr h="1962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00001111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51635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9616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A8F14-A5DE-1F41-F951-2CA2DF1A6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3F354-D76E-83C0-30BD-73D88CE3F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010" y="0"/>
            <a:ext cx="6849979" cy="138093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PUF METRICS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37873B-2860-7CF2-A665-12E1FA8C5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7EE1642F-2A41-F42A-17A6-6B332A705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4C9719-7F14-08A2-1BF4-56CF9174F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08/22/2025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523F5D-01A2-DB9B-6D24-2272241CE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2F725-2558-E2A2-EF08-410C699B7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9A0E17-9F53-997C-4E84-D0E63BCE309C}"/>
              </a:ext>
            </a:extLst>
          </p:cNvPr>
          <p:cNvSpPr txBox="1"/>
          <p:nvPr/>
        </p:nvSpPr>
        <p:spPr>
          <a:xfrm>
            <a:off x="1398860" y="1652562"/>
            <a:ext cx="939427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entries N = 256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1s N1 = 84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0s N0 = 172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the percentage of each: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of 1s = (N1 / N) × 100 = (84 / 256) × 100 ≈ 32.81%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of 0s = (N0 / N) × 100 = (172 / 256) × 100 ≈ 67.19%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1s = 32.81%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0s = 67.19%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confirms that the output is biased toward 0s.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PUF randomness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responses should be randomly distributed, ideally 50% 1s and 50% 0s</a:t>
            </a:r>
            <a:r>
              <a:rPr lang="en-US" dirty="0"/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8009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C3FF7-4913-23BA-39D7-07C3AFECD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11C52-671E-A319-7BF7-FD71E6AED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010" y="0"/>
            <a:ext cx="6849979" cy="138093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PUF METRICS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00E4D3-22D5-DE27-C3FA-D8EEF01E0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C96502AC-EB65-A3DC-68E2-6949E29F26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CBFDB-0D38-A7D9-7D75-DBA2E4D99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08/22/2025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58F9FE-5871-68A3-FC5E-6D013391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8B287D-3A6F-182C-434E-CD847DA91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66289"/>
            <a:ext cx="2743200" cy="365125"/>
          </a:xfrm>
        </p:spPr>
        <p:txBody>
          <a:bodyPr/>
          <a:lstStyle/>
          <a:p>
            <a:fld id="{B1ECA96C-9B8F-B941-9AF0-02B5F35F80AE}" type="slidenum">
              <a:rPr lang="en-US" smtClean="0"/>
              <a:t>17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84D975-1C5D-38D8-14B1-9956D28469F1}"/>
              </a:ext>
            </a:extLst>
          </p:cNvPr>
          <p:cNvSpPr txBox="1"/>
          <p:nvPr/>
        </p:nvSpPr>
        <p:spPr>
          <a:xfrm>
            <a:off x="1083365" y="1652920"/>
            <a:ext cx="1027043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FPGA responses: </a:t>
            </a:r>
            <a:r>
              <a:rPr lang="en-US" b="1" dirty="0"/>
              <a:t>255 out of 256</a:t>
            </a:r>
            <a:r>
              <a:rPr lang="en-US" dirty="0"/>
              <a:t> match the reference</a:t>
            </a:r>
          </a:p>
          <a:p>
            <a:r>
              <a:rPr lang="en-US" b="1" dirty="0"/>
              <a:t>Stability Formula:</a:t>
            </a:r>
          </a:p>
          <a:p>
            <a:br>
              <a:rPr lang="en-US" dirty="0"/>
            </a:br>
            <a:r>
              <a:rPr lang="en-US" dirty="0"/>
              <a:t>	Stability (%) = (Number of matching responses / Total responses) × 100</a:t>
            </a:r>
          </a:p>
          <a:p>
            <a:r>
              <a:rPr lang="en-US" b="1" dirty="0"/>
              <a:t>Step-by-Step Calculation:</a:t>
            </a:r>
            <a:endParaRPr lang="en-US" dirty="0"/>
          </a:p>
          <a:p>
            <a:r>
              <a:rPr lang="en-US" dirty="0"/>
              <a:t>	Stability (%) = 255 / 256 × 100</a:t>
            </a:r>
          </a:p>
          <a:p>
            <a:r>
              <a:rPr lang="en-US" dirty="0"/>
              <a:t>	255 ÷ 256 = 0.99609375</a:t>
            </a:r>
          </a:p>
          <a:p>
            <a:r>
              <a:rPr lang="en-US" dirty="0"/>
              <a:t>	0.99609375 × 100 ≈ 99.61%</a:t>
            </a:r>
          </a:p>
          <a:p>
            <a:endParaRPr lang="en-US" dirty="0"/>
          </a:p>
          <a:p>
            <a:r>
              <a:rPr lang="en-US" b="1" dirty="0"/>
              <a:t> Result:</a:t>
            </a:r>
            <a:br>
              <a:rPr lang="en-US" dirty="0"/>
            </a:br>
            <a:r>
              <a:rPr lang="en-US" dirty="0"/>
              <a:t>	Stability = 99.61%</a:t>
            </a:r>
          </a:p>
          <a:p>
            <a:r>
              <a:rPr lang="en-US" b="1" dirty="0"/>
              <a:t>Interpretation:</a:t>
            </a:r>
          </a:p>
          <a:p>
            <a:endParaRPr lang="en-US" dirty="0"/>
          </a:p>
          <a:p>
            <a:r>
              <a:rPr lang="en-US" dirty="0"/>
              <a:t>	The PUF is </a:t>
            </a:r>
            <a:r>
              <a:rPr lang="en-US" b="1" dirty="0"/>
              <a:t>extremely stable</a:t>
            </a:r>
            <a:endParaRPr lang="en-US" dirty="0"/>
          </a:p>
          <a:p>
            <a:r>
              <a:rPr lang="en-US" dirty="0"/>
              <a:t>	Only </a:t>
            </a:r>
            <a:r>
              <a:rPr lang="en-US" b="1" dirty="0"/>
              <a:t>1 response out of 256</a:t>
            </a:r>
            <a:r>
              <a:rPr lang="en-US" dirty="0"/>
              <a:t> flips</a:t>
            </a:r>
          </a:p>
        </p:txBody>
      </p:sp>
    </p:spTree>
    <p:extLst>
      <p:ext uri="{BB962C8B-B14F-4D97-AF65-F5344CB8AC3E}">
        <p14:creationId xmlns:p14="http://schemas.microsoft.com/office/powerpoint/2010/main" val="2401549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D770B-D78A-E0E7-3694-92698CE24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34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WORK 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69697" y="340348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349973"/>
            <a:ext cx="1638850" cy="1112406"/>
          </a:xfrm>
          <a:prstGeom prst="rect">
            <a:avLst/>
          </a:prstGeom>
        </p:spPr>
      </p:pic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9979850"/>
              </p:ext>
            </p:extLst>
          </p:nvPr>
        </p:nvGraphicFramePr>
        <p:xfrm>
          <a:off x="838200" y="1493701"/>
          <a:ext cx="10515600" cy="38260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4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1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6571">
                <a:tc>
                  <a:txBody>
                    <a:bodyPr/>
                    <a:lstStyle/>
                    <a:p>
                      <a:pPr algn="ctr"/>
                      <a:r>
                        <a:rPr lang="en-IN" sz="2400" b="0">
                          <a:latin typeface="Times New Roman" pitchFamily="18" charset="0"/>
                          <a:cs typeface="Times New Roman" pitchFamily="18" charset="0"/>
                        </a:rPr>
                        <a:t>Review</a:t>
                      </a:r>
                      <a:endParaRPr lang="en-IN" sz="24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IN" sz="2400" b="0">
                          <a:latin typeface="Times New Roman" pitchFamily="18" charset="0"/>
                          <a:cs typeface="Times New Roman" pitchFamily="18" charset="0"/>
                        </a:rPr>
                        <a:t>Work to be Done</a:t>
                      </a:r>
                      <a:endParaRPr lang="en-IN" sz="1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0021">
                <a:tc>
                  <a:txBody>
                    <a:bodyPr/>
                    <a:lstStyle/>
                    <a:p>
                      <a:pPr algn="just"/>
                      <a:r>
                        <a:rPr lang="en-IN" sz="2800" b="0">
                          <a:latin typeface="Times New Roman" pitchFamily="18" charset="0"/>
                          <a:cs typeface="Times New Roman" pitchFamily="18" charset="0"/>
                        </a:rPr>
                        <a:t>                    Review 1</a:t>
                      </a:r>
                      <a:endParaRPr lang="en-IN" sz="2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8-bit Arbiter PUF in Verilog and verified functionality in Vivado with UART interface.</a:t>
                      </a:r>
                      <a:endParaRPr lang="en-IN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9573">
                <a:tc>
                  <a:txBody>
                    <a:bodyPr/>
                    <a:lstStyle/>
                    <a:p>
                      <a:r>
                        <a:rPr lang="en-IN" sz="2800" b="0">
                          <a:latin typeface="Times New Roman" pitchFamily="18" charset="0"/>
                          <a:cs typeface="Times New Roman" pitchFamily="18" charset="0"/>
                        </a:rPr>
                        <a:t>                   </a:t>
                      </a:r>
                      <a:r>
                        <a:rPr lang="en-IN" sz="2800" b="0" baseline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IN" sz="2800" b="0">
                          <a:latin typeface="Times New Roman" pitchFamily="18" charset="0"/>
                          <a:cs typeface="Times New Roman" pitchFamily="18" charset="0"/>
                        </a:rPr>
                        <a:t>Review 2</a:t>
                      </a:r>
                      <a:endParaRPr lang="en-IN" sz="2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 Challenge-Response Pairs (CRPs) and calculated PUF metrics like uniqueness, reliability, and uniformity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9573">
                <a:tc>
                  <a:txBody>
                    <a:bodyPr/>
                    <a:lstStyle/>
                    <a:p>
                      <a:r>
                        <a:rPr lang="en-IN" sz="2800" b="0">
                          <a:latin typeface="Times New Roman" pitchFamily="18" charset="0"/>
                          <a:cs typeface="Times New Roman" pitchFamily="18" charset="0"/>
                        </a:rPr>
                        <a:t>                    Review 3</a:t>
                      </a:r>
                      <a:endParaRPr lang="en-IN" sz="2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improved PUF stability and metrics using XOR-based architecture and post-processing techniques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08/22/2025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023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888" y="1597793"/>
            <a:ext cx="10862912" cy="4675422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J.Plusquellic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M.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Areno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,“Correlation-based robust authentication(cobra) using helper data only,” Cryptography, vol. 2, no. 3, 2018, Art. no. 21. [Online]. Available: https://www.mdpi.com/2410--387X/2/3/21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D.Heeger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J.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Plusquellic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“Analysis of IoT authentication over LoRa,” in Proc. IEEE 16th Int. Conf.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Sensor Syst., 2020, pp. 458–465.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J.Plusquellic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“Shift register,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reconvergent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-fanout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SiRF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PUF implementation on an FPGA,” Cryptography, vol. 6, no. 4, 2022, Art. no. 59. [Online]. Available: https://www.mdpi.com/2410--387X/6/4/59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Rührmair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“PUF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attacks on simulated and silicon data,” IEEE Trans. Inf. Forensics Security, vol. 8, no. 11, pp. 1876–1891, Nov. 2013.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T. Becker, “On the pitfalls of using Arbiter-PUFs as building blocks,” IEEE Trans.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.-Aided Design Integer. Circuits Syst., vol. 34, no. 8, pp. 1295–1307, Aug. 2015.</a:t>
            </a: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263345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327" y="207922"/>
            <a:ext cx="1638850" cy="111240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08/22/2025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268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REFERENCES(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Cntd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 startAt="6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Wen and Y. Lao, “Enhancing PUF reliability by machine learning,” in Proc. IEEE Int. Symp. Circuits Syst., 2017, pp. 1–4. 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H.Awano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T.Iizuka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M.Ikeda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“PUF Net :A deep neural network based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attack for physically unclonable function,” in Proc. IEEE Int. Symp. Circuits Syst., 2019, pp. 1–4. 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Xu, Y. Lao, W. Liu, Z. Zhang, X. You, and C. Zhang, “Mathematical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of strong physical unclonable functions,” IEEE Trans.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.-Aided Design Integer. Circuits Syst., vol. 39, no. 12, pp. 4426–4438, Dec. 2020. 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Delvaux, “Machine-learning attacks on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PolyPUFs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OB-PUFs, RPUFs, LHS-PUFs and PUF-FSMs,”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IEEETrans.Inf.Forensics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Security, vol. 14, no. 8, pp. 2043–2058, Aug. 2019. 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Lao and K. K.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Parhi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“Statistical analysis of MUX-based physical unclonablefunctions,”IEEETrans.Comput.-AidedDesignIntegr.Circuits Syst., vol. 33, no. 5, pp. 649–662, May 2014.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79322" y="426975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9824" y="373160"/>
            <a:ext cx="1638850" cy="111240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08/22/2025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8671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8F96A-A9EC-483A-238D-F38DBD8FE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08/22/2025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185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a20c320-ecff-490d-a41e-5928cf94fe9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A909FF2A0C6B4BB63F3D8F8BD5A5F3" ma:contentTypeVersion="12" ma:contentTypeDescription="Create a new document." ma:contentTypeScope="" ma:versionID="fd72fe775fd0487406d618e8ac1fefcc">
  <xsd:schema xmlns:xsd="http://www.w3.org/2001/XMLSchema" xmlns:xs="http://www.w3.org/2001/XMLSchema" xmlns:p="http://schemas.microsoft.com/office/2006/metadata/properties" xmlns:ns3="9a20c320-ecff-490d-a41e-5928cf94fe95" targetNamespace="http://schemas.microsoft.com/office/2006/metadata/properties" ma:root="true" ma:fieldsID="96944d2f30c2801d6d71498b75d94d1c" ns3:_="">
    <xsd:import namespace="9a20c320-ecff-490d-a41e-5928cf94fe9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MediaServiceOCR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20c320-ecff-490d-a41e-5928cf94fe9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201244-630F-4FE1-B503-F2A036E61670}">
  <ds:schemaRefs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9a20c320-ecff-490d-a41e-5928cf94fe95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20373B1F-8FEE-4DA6-8BE3-E5580EB91AF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ED7EEF-3DD5-4E12-964D-4C742FAA82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20c320-ecff-490d-a41e-5928cf94fe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2956</TotalTime>
  <Words>2058</Words>
  <Application>Microsoft Office PowerPoint</Application>
  <PresentationFormat>Widescreen</PresentationFormat>
  <Paragraphs>352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Office Theme</vt:lpstr>
      <vt:lpstr>DESIGN AND DEVELOPMENT OF PUF FOR HARDWARE SECURITY UPDATE</vt:lpstr>
      <vt:lpstr>PowerPoint Presentation</vt:lpstr>
      <vt:lpstr>PowerPoint Presentation</vt:lpstr>
      <vt:lpstr>PowerPoint Presentation</vt:lpstr>
      <vt:lpstr>PowerPoint Presentation</vt:lpstr>
      <vt:lpstr>LITERATURE SURVEY</vt:lpstr>
      <vt:lpstr>LITERATURE SURVEY</vt:lpstr>
      <vt:lpstr>BLOCK  DIAGRAM</vt:lpstr>
      <vt:lpstr>TYPES OF PUF</vt:lpstr>
      <vt:lpstr>WEAK PUF</vt:lpstr>
      <vt:lpstr>PowerPoint Presentation</vt:lpstr>
      <vt:lpstr> WORK PROGRESS </vt:lpstr>
      <vt:lpstr>INTEGRATING UART INTO              PUF PROJECT</vt:lpstr>
      <vt:lpstr>UART INTEGRATION WITH THE PUF</vt:lpstr>
      <vt:lpstr>PUF METRICS</vt:lpstr>
      <vt:lpstr>PUF METRICS</vt:lpstr>
      <vt:lpstr>PUF METRICS</vt:lpstr>
      <vt:lpstr>WORK FLOW</vt:lpstr>
      <vt:lpstr>REFERENCES</vt:lpstr>
      <vt:lpstr> REFERENCES(Cntd.)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adaptive beam prediction for V2V Communication</dc:title>
  <dc:creator>Microsoft Office User</dc:creator>
  <cp:lastModifiedBy>NAVABHARATHI T</cp:lastModifiedBy>
  <cp:revision>63</cp:revision>
  <dcterms:created xsi:type="dcterms:W3CDTF">2024-08-14T09:59:13Z</dcterms:created>
  <dcterms:modified xsi:type="dcterms:W3CDTF">2025-08-21T18:50:24Z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0x010100F6A909FF2A0C6B4BB63F3D8F8BD5A5F3</vt:lpwstr>
  </property>
</Properties>
</file>