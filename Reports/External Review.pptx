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1" r:id="rId2"/>
    <p:sldId id="257" r:id="rId3"/>
    <p:sldId id="289" r:id="rId4"/>
    <p:sldId id="291" r:id="rId5"/>
    <p:sldId id="263" r:id="rId6"/>
    <p:sldId id="290" r:id="rId7"/>
    <p:sldId id="279" r:id="rId8"/>
    <p:sldId id="292" r:id="rId9"/>
    <p:sldId id="293" r:id="rId10"/>
    <p:sldId id="294" r:id="rId11"/>
    <p:sldId id="295" r:id="rId12"/>
    <p:sldId id="296" r:id="rId13"/>
    <p:sldId id="300" r:id="rId14"/>
    <p:sldId id="297" r:id="rId15"/>
    <p:sldId id="298" r:id="rId16"/>
    <p:sldId id="299" r:id="rId17"/>
    <p:sldId id="301" r:id="rId18"/>
    <p:sldId id="306" r:id="rId19"/>
    <p:sldId id="302" r:id="rId20"/>
    <p:sldId id="303" r:id="rId21"/>
    <p:sldId id="304" r:id="rId22"/>
    <p:sldId id="305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6" r:id="rId32"/>
    <p:sldId id="315" r:id="rId33"/>
    <p:sldId id="281" r:id="rId34"/>
    <p:sldId id="282" r:id="rId35"/>
    <p:sldId id="25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DE4D7-ED51-4D4B-9B97-D8B41271B169}" v="13" dt="2025-11-25T05:00:13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AC359-26A2-41B9-8290-CB7299542758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14C50-17F7-40D6-85FC-F4326EC151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23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E86CB-CBCB-4DA2-9577-1F84680411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7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930D-E116-F4CC-FA4C-585119B3A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1591A-5B9D-9FE2-5481-5088D469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983B-1CA9-1FC6-107A-2C6E0B44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26/11/2025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D39A6-E265-CC90-B130-F7A90F07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BD16-E509-7B48-AD31-03C2052F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5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34BF-32F9-0F5F-CFD3-DB655B15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5B22-F6E1-E6EE-98E3-50DAA0C7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D1D88-062F-E63A-EFAC-287FE939B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26/11/2025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1335F-44F3-B55B-6A71-C7A8894D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1D28-FB2E-FA47-7ED8-E111CE88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4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E397-D18D-630C-E7D6-F87FDBDD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C7353-0C7B-AFE3-A0F8-09CD4E697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B147-2F7B-CA92-E5F6-A43FC858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67280-C409-9BE5-29FB-697A2C25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D2E0B-F642-25D8-5D72-3EF88D8D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53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FBAC-69F8-621E-3A29-3060A129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2A531-8436-6A95-3341-9D8B21689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A9F90-2284-B058-F971-A48C4CE26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E8213-4043-D152-9F96-4B2554F7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A9DFA-F0CD-6644-4361-BD229EA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BA57-16B2-BDA7-D781-56C6C640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9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3715-0306-C92E-6678-68C9478D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DA7CD-B776-CF99-1D31-C0DF4DBA3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FDBEF-7341-FAE0-DD1F-8A6DD02F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695BF-894D-C7AC-5645-0B56A5F0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6548C-7F47-E40A-0A54-374B3DE7B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51BE7-5DD5-6215-A2D0-36BC875F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19637-223B-9199-5178-CAA3B2A3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051BF-DDFC-E9FC-BDE5-617ECC6E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198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4FFA-1D0D-B0E9-0604-8D8C5316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CAD29-FE74-874D-5A8B-587695F2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D8386-D5FB-C199-319A-12A73BA1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3C41-4D66-DBB8-3EAB-0F4D36C1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67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D723E-44F2-23CA-8809-999F7CE8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FD0FC-2A95-08C6-72AA-B59A9915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0A6FE-E0B3-17E3-2F34-FE5D2BCF0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0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151C-E806-E4D6-09AA-BD6545819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D837F-8078-3CBF-CD10-906847BB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7E9CE-E4D7-7091-EFEF-4C4513653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FEF5E-E102-BBD4-3D61-D36192CAE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C4732-E5AE-8BC6-A809-2DE0DBFD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7BBB8-36CE-D719-808D-1DD1726C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91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DE4A3-C945-D017-9213-697B9F76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48FDD-8EF4-22E7-F1D5-DD1F85370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5873F-D50F-7BFB-3487-583ABD796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55E65-A117-05C2-D3F5-D33020C0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24C88-85FB-C332-AC99-5F91AED2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C64D6-CC5F-9461-444C-5AE87E3E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063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D134-8125-B9CE-FE06-5683839C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80E6C-DE86-4968-4367-E6853BBAB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9D665-CAFE-8870-4037-B10223A7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87FDF-318D-DB98-E650-F22C8924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9759F-8580-FB68-E301-DBEA4658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51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1747B-5947-2D0F-3607-551AD22D7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0B274-4691-0795-D119-14844E361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2C7FF-C4D6-139D-F384-E380BD67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0A076-3C12-45F9-AAD1-493073CB5919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C372D-0D2B-4920-9027-8DD5D60E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09047-C41A-18ED-38C7-FB3B41DD0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8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8F56D-2BCC-69BC-47A8-AA06445B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093A8-7DC7-9E86-94EF-8542E3EA7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ED7F2-EFF2-5673-F843-59F47EF82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26/11/2025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78774-401F-5B42-A4E1-749ED25C6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1AC55-A60C-99C0-31D0-EB6F53CB8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756F8-7137-42F3-BC60-36356BBC5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2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r.wikipedia.org/wiki/%D8%AC%D8%A7%D9%85%D8%B9%DB%81_%D8%A7%D9%86%D8%A7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924" y="1916348"/>
            <a:ext cx="10468151" cy="13716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3600" b="1" dirty="0">
                <a:latin typeface="Times New Roman" panose="02020603050405020304" pitchFamily="18" charset="0"/>
              </a:rPr>
              <a:t>DESIGN AND DEVELOPMENT OF PUF FOR HARDWARE SECURITY UPDATE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2" y="358688"/>
            <a:ext cx="12191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2022-2026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DCEFBBB-B99A-0ECB-340C-3093E0A73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707" y="4017522"/>
            <a:ext cx="4706184" cy="208100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b="1" dirty="0">
                <a:latin typeface="Times New Roman" panose="02020603050405020304" pitchFamily="18" charset="0"/>
              </a:rPr>
              <a:t>Presented by</a:t>
            </a:r>
            <a:r>
              <a:rPr lang="en-US" altLang="en-US" dirty="0">
                <a:latin typeface="Times New Roman" panose="02020603050405020304" pitchFamily="18" charset="0"/>
              </a:rPr>
              <a:t>: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 err="1">
                <a:latin typeface="Times New Roman" panose="02020603050405020304" pitchFamily="18" charset="0"/>
              </a:rPr>
              <a:t>Navabharathi</a:t>
            </a:r>
            <a:r>
              <a:rPr lang="en-US" altLang="en-US" sz="2200" dirty="0">
                <a:latin typeface="Times New Roman" panose="02020603050405020304" pitchFamily="18" charset="0"/>
              </a:rPr>
              <a:t> T  (2022504526)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</a:rPr>
              <a:t>Dharshan R        (2022504517)</a:t>
            </a:r>
          </a:p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2200" dirty="0">
                <a:latin typeface="Times New Roman" panose="02020603050405020304" pitchFamily="18" charset="0"/>
              </a:rPr>
              <a:t>Lakshmanan S   (2022504310)</a:t>
            </a:r>
          </a:p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3D489D0-1078-EF6A-F5CF-0500D4C69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7110" y="3671051"/>
            <a:ext cx="4968533" cy="2427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Guided by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Dr. V. R. Vijaykumar,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Professor,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Electronics Engineering,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Madras Institute of Technology,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Anna University.</a:t>
            </a:r>
          </a:p>
          <a:p>
            <a:pPr eaLnBrk="1" hangingPunct="1">
              <a:spcBef>
                <a:spcPts val="1000"/>
              </a:spcBef>
              <a:buSzPct val="100000"/>
            </a:pP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49500" y="825824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9A8AD7F8-011E-3E17-1FB2-1E5FC2821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981" y="527670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40F533-01FE-69ED-96E1-B8CC570294B4}"/>
              </a:ext>
            </a:extLst>
          </p:cNvPr>
          <p:cNvSpPr txBox="1"/>
          <p:nvPr/>
        </p:nvSpPr>
        <p:spPr>
          <a:xfrm>
            <a:off x="4778627" y="2053508"/>
            <a:ext cx="3569636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PROGRESS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0" y="1585608"/>
            <a:ext cx="11036030" cy="4638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Physically Unclonable Function (PUF) is a hardware-specific security primitive designed to provide cryptographic functionalities such as secure key generation and device authentication, especially for embedded and IoT systems.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physical structure of a PUF is simple to manufacture but extremely difficult or impossible to replicate, due to uncontrollable variations in the semiconductor fabrication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process.While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systems use binary classification (real vs. fake), this approach can be limiting.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PUF generates a unique output, known as a response, to a given input challenge, based on the intrinsic physical differences present in each Integrated Circuit (IC). These responses are used as digital fingerprints for secure and tamper-resistant identification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61E7-C01E-9DE3-37CA-A3CEFE82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D3C70-C692-904A-7EED-8AA4D7ED1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3274"/>
            <a:ext cx="11125200" cy="47530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robust Arbiter PUF using Verilog HDL.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uniqueness of the Arbiter PUF by generating responses to multiple challenges and comparing the responses across different PUF instances.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various PUF metrices such as Inter-chip variation, Intra-chip variation, uniformity, reliability and bit-aliasing.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000000"/>
              </a:buClr>
              <a:buSzPct val="100000"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developed Arbiter PUF in  FPGA platform, focusing on validating its functionality.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2AC2F-8B7F-813E-B551-089244B2E5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C3B11-A39B-84FF-EA13-86DC21AA9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69D84FC-CE4C-FAE9-46C0-40D588BBA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F328-6A4B-6F8E-4A4F-078830FE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657BE-EF41-ADD9-F322-7C76DEF7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2C98F-9906-7B89-87B2-313F62CE3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83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418289"/>
            <a:ext cx="12192001" cy="190166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9181" y="27801"/>
            <a:ext cx="991264" cy="983876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421" y="27801"/>
            <a:ext cx="1489398" cy="1010962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/>
        </p:nvGraphicFramePr>
        <p:xfrm>
          <a:off x="223735" y="1011677"/>
          <a:ext cx="11859083" cy="578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660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683746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590355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16198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785124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93337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177873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Yao Wang,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Guangyang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Zhang,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Mei, and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Chongyan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High-Reliability, Non-CRP-Discard Arbiter PUF Based on Delay Difference Quantization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Circuits and Systems—I: Regular Papers,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Vol. 72, No. 2,, pp. 573–585 February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delay-difference-based Arbiter PUF (DDQ-APUF) with 99.95% reliability, no CRP discarding, and enhanced ML attack resistance using pseudo-XOR.</a:t>
                      </a:r>
                    </a:p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  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Arbiter PUFs show poor reliability on FPGAs and require CRP filtering or error correction, increasing overhead and security risk.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675673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Bjoern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Driemeyer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Holger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Mandry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David-Peter Wiens, Joachim Becker, John G. Kauffman,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Maurits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Ortmanns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Eye-Opening Arbiter PUF for Fingerprint Generation Using Auto-Error Detection for PVT-Robust Masking and Bit Stabilization Achieving a BER of 2e-8 in 28nm CMOS</a:t>
                      </a:r>
                      <a:endParaRPr lang="en-US" sz="17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Solid-State Circuits Conference (ISSCC), Session 17.5 </a:t>
                      </a: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en-IN" sz="17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eye-opening Arbiter PUF combining RO and arbiter benefits with on-chip auto-error detection and masking, achieving ultra-low BER (2e–8) without off-chip data.</a:t>
                      </a:r>
                      <a:r>
                        <a:rPr lang="en-US" sz="1600" b="1" dirty="0"/>
                        <a:t> </a:t>
                      </a:r>
                    </a:p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 </a:t>
                      </a:r>
                      <a:r>
                        <a:rPr lang="en-US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PUFs struggle to maintain stability under process, voltage, and temperature (PVT) variations without high overhead or off-chip helper data.</a:t>
                      </a:r>
                    </a:p>
                    <a:p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46715"/>
            <a:ext cx="2743200" cy="505838"/>
          </a:xfrm>
        </p:spPr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546714"/>
            <a:ext cx="4114800" cy="251883"/>
          </a:xfrm>
        </p:spPr>
        <p:txBody>
          <a:bodyPr/>
          <a:lstStyle/>
          <a:p>
            <a:r>
              <a:rPr lang="en-US" dirty="0"/>
              <a:t>FINAL REVIEW</a:t>
            </a:r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65370"/>
            <a:ext cx="12192001" cy="16487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2"/>
            <a:ext cx="1019228" cy="1011632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433" y="27801"/>
            <a:ext cx="1490385" cy="1011632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/>
        </p:nvGraphicFramePr>
        <p:xfrm>
          <a:off x="233463" y="1039433"/>
          <a:ext cx="11751012" cy="560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116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791571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532615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2274366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549344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94528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363212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Sivappriya Manivannan, Rajat Subhra Chakraborty, Indrajit Chakrabarti, and Jothi Ramalingam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“Practical and Efficient PUF-Based Protocol for Authentication and Key Agreement in IoT”</a:t>
                      </a: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Embedded Systems Letters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vol. 16, no. 2, pp. 118–121,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lightweight authentication and key agreement protocol using Arbiter PUF, Fuzzy Extractor, and ECDH.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Identified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systems store large CRP sets or require pairing operations—both unsuitable for IoT.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  <a:tr h="229182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Hemavathy and</a:t>
                      </a:r>
                    </a:p>
                    <a:p>
                      <a:pPr algn="l"/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S. Kanchana Bhaaskaran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IN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Arbiter PUF—A Review of Design, Composition, and Security Aspects</a:t>
                      </a:r>
                      <a:endParaRPr kumimoji="0" lang="en-I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icrosoft YaHei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l-NL" sz="18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Access, vol. 11, pp. 33979–33993, </a:t>
                      </a:r>
                      <a:r>
                        <a:rPr lang="nl-NL" sz="18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49530"/>
                </a:tc>
                <a:tc>
                  <a:txBody>
                    <a:bodyPr/>
                    <a:lstStyle/>
                    <a:p>
                      <a:pPr marL="0" indent="0" algn="just">
                        <a:buFontTx/>
                        <a:buNone/>
                      </a:pP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Inference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600" dirty="0"/>
                        <a:t>Provided a comprehensive review of Arbiter PUF designs, metrics, and their resilience against ML attacks.</a:t>
                      </a:r>
                    </a:p>
                    <a:p>
                      <a:pPr marL="0" indent="0" algn="just">
                        <a:buFontTx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Tx/>
                        <a:buNone/>
                      </a:pPr>
                      <a:r>
                        <a:rPr lang="en-US" sz="1600" dirty="0"/>
                        <a:t>Many existing PUF architectures are still susceptible to deep learning and side-channel modeling.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384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4C8149-0B8E-9B90-8A5C-7832A9392978}"/>
              </a:ext>
            </a:extLst>
          </p:cNvPr>
          <p:cNvSpPr/>
          <p:nvPr/>
        </p:nvSpPr>
        <p:spPr>
          <a:xfrm>
            <a:off x="749682" y="1672036"/>
            <a:ext cx="1834492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Challenge (n-bit)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1D4080-E352-0E2E-D14B-F6F9C459BBB6}"/>
              </a:ext>
            </a:extLst>
          </p:cNvPr>
          <p:cNvSpPr/>
          <p:nvPr/>
        </p:nvSpPr>
        <p:spPr>
          <a:xfrm>
            <a:off x="6416122" y="1736846"/>
            <a:ext cx="2267148" cy="74241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Switch Network (Controlled by Challenge)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534DD-3882-FC89-D664-FB3CDA05C907}"/>
              </a:ext>
            </a:extLst>
          </p:cNvPr>
          <p:cNvSpPr/>
          <p:nvPr/>
        </p:nvSpPr>
        <p:spPr>
          <a:xfrm>
            <a:off x="1612770" y="3392969"/>
            <a:ext cx="1856426" cy="645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PUF Response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(1-bit)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19519A-88A3-C528-38A8-F8032BF907FF}"/>
              </a:ext>
            </a:extLst>
          </p:cNvPr>
          <p:cNvSpPr/>
          <p:nvPr/>
        </p:nvSpPr>
        <p:spPr>
          <a:xfrm>
            <a:off x="8081927" y="3354295"/>
            <a:ext cx="2364162" cy="7383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Signal Race Paths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B42412-D6A3-346F-2199-ADD106E420C5}"/>
              </a:ext>
            </a:extLst>
          </p:cNvPr>
          <p:cNvSpPr/>
          <p:nvPr/>
        </p:nvSpPr>
        <p:spPr>
          <a:xfrm>
            <a:off x="4632011" y="3424357"/>
            <a:ext cx="2267835" cy="5753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Arbiter (Timing Comparator)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FC6071-C693-FD23-86DA-F4D5C48243E2}"/>
              </a:ext>
            </a:extLst>
          </p:cNvPr>
          <p:cNvSpPr/>
          <p:nvPr/>
        </p:nvSpPr>
        <p:spPr>
          <a:xfrm>
            <a:off x="3409067" y="1749360"/>
            <a:ext cx="2095696" cy="7216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Challenge Register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6BC478-D26F-9A2B-2D63-763A24C04301}"/>
              </a:ext>
            </a:extLst>
          </p:cNvPr>
          <p:cNvSpPr/>
          <p:nvPr/>
        </p:nvSpPr>
        <p:spPr>
          <a:xfrm>
            <a:off x="9771542" y="1660456"/>
            <a:ext cx="1629076" cy="8951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Delay Line Stages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2AF190-DCA2-7006-1949-F8E7BD42B845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 flipV="1">
            <a:off x="2584174" y="2110173"/>
            <a:ext cx="824893" cy="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9FE4B30-7012-CA3B-7509-D0841ABAE7CE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5504763" y="2108052"/>
            <a:ext cx="911359" cy="2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FD5B0D6-A6E2-A371-A6AD-10D712203087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8683270" y="2108052"/>
            <a:ext cx="1088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745F1D7-2DB8-2BB1-F2F6-BAA86D7EADD9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1400618" y="2103322"/>
            <a:ext cx="208286" cy="4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4BF764C-E192-014E-CD4B-A2AD9B45C53F}"/>
              </a:ext>
            </a:extLst>
          </p:cNvPr>
          <p:cNvCxnSpPr>
            <a:cxnSpLocks/>
          </p:cNvCxnSpPr>
          <p:nvPr/>
        </p:nvCxnSpPr>
        <p:spPr>
          <a:xfrm>
            <a:off x="11608904" y="2114902"/>
            <a:ext cx="0" cy="1625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7503758-BE4C-3A96-A8CB-E753BC3DDC2E}"/>
              </a:ext>
            </a:extLst>
          </p:cNvPr>
          <p:cNvCxnSpPr>
            <a:cxnSpLocks/>
          </p:cNvCxnSpPr>
          <p:nvPr/>
        </p:nvCxnSpPr>
        <p:spPr>
          <a:xfrm flipH="1">
            <a:off x="10446089" y="3740881"/>
            <a:ext cx="1162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2EBBF32-7358-E51E-42E1-C3EEEDBCF208}"/>
              </a:ext>
            </a:extLst>
          </p:cNvPr>
          <p:cNvCxnSpPr>
            <a:cxnSpLocks/>
            <a:stCxn id="12" idx="1"/>
            <a:endCxn id="13" idx="3"/>
          </p:cNvCxnSpPr>
          <p:nvPr/>
        </p:nvCxnSpPr>
        <p:spPr>
          <a:xfrm flipH="1" flipV="1">
            <a:off x="6899846" y="3712056"/>
            <a:ext cx="1182081" cy="11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5F98F2E-863E-E55B-1AE2-168B4514F0C9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>
            <a:off x="3469196" y="3712056"/>
            <a:ext cx="1162815" cy="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E20C8-C124-4385-B977-889455C8C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PUF maps the input challenge with a unique response, thus creating a challenge-response pair (CRP).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WEAK PUF: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Limited number of Challenge-Response pairs.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Used for cryptographic key generation.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STRONG PUF: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Large number of CRPs.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latin typeface="Times New Roman" panose="02020603050405020304" pitchFamily="18" charset="0"/>
              </a:rPr>
              <a:t>Used for authentication without using external cryptographic hardware.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B042-2C55-4655-813F-7B5FD54D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4F41A-243E-4709-968B-533247F1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7A90-50AF-498D-AF27-E9954E13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258676-E382-41E4-B069-4F1E93EA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731"/>
            <a:ext cx="10515600" cy="1624518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b="1" dirty="0">
                <a:latin typeface="Times New Roman" panose="02020603050405020304" pitchFamily="18" charset="0"/>
              </a:rPr>
              <a:t>TYPES OF PUF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C4077F-54AD-452F-8FCB-B12EE82E1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6B21267-A043-4D31-BBB7-9490A09D3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50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BCBFE-BD90-47D1-8428-213CA7B6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548"/>
            <a:ext cx="10515600" cy="180046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WEAK PUF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FB54C-D696-4174-A9ED-383718AC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SRAM PUF (Memory based PUF)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Power-on state of SRAM cells generates unique Challenge-Response pair.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weak PUFs include Butterfly PUF, Ring-Oscillator PUF, etc.</a:t>
            </a:r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82AD-A3C7-4C4C-A2EC-E1C8E892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941B1-BFBE-4C02-82EE-07164FAA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C3B82-DF54-4BFF-9A09-4C22F0BDA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7728E9-22DC-434C-9284-099C8FC95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229C5F-CCE4-46FC-8F00-5AC1A1CD4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E7EB90F8-D7C7-4091-9CC5-BAD77C4F6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100" y="2857500"/>
            <a:ext cx="4035425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773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C7E1-7BE2-4520-86E4-881557269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55416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</a:rPr>
              <a:t>STRONG PUF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DA55-EB8E-4A03-BEDA-97F182CCE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6152"/>
            <a:ext cx="10747443" cy="4669277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</a:rPr>
              <a:t>Arbiter PUF (Delay based PUF)</a:t>
            </a: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 manufacturing variability in gate delay as the source of unclonable randomness i.e. a race condition is established in a symmetric circuit.</a:t>
            </a:r>
          </a:p>
          <a:p>
            <a:pPr marL="0" indent="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strong PUFs include Optical PUF, Feed-Forward Arbiter PUF, etc.</a:t>
            </a:r>
          </a:p>
          <a:p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0893-B403-42E6-B156-68D62F85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AC892-F173-4AFE-82D5-BC0E6B87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FC31-57E5-4FD7-BE52-5FE8735B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1BBB3-2062-4406-B280-D8C6A3357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5A8BDA-79E3-466F-8AE4-6FAD60DA3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90064A2D-AA80-4BAD-94F0-F757A3069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207" y="2645552"/>
            <a:ext cx="6020142" cy="287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190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B86F-F435-4473-182A-A17233D1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3353-9ACA-0A39-A0A8-35464497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08" y="136525"/>
            <a:ext cx="6849979" cy="138093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UART INTO         	    PUF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1875B-EA3E-53B2-1479-0F67A184D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D73DD318-BDBA-ECA5-0322-F33C468D0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C374F-947E-0C6F-9F5D-23309F99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9E161-C46A-4EDC-A386-CF9230DB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3959B-1722-AC90-657B-956BEB2B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4C16A2-935F-C77E-BE3E-AD15DDC05C82}"/>
              </a:ext>
            </a:extLst>
          </p:cNvPr>
          <p:cNvSpPr txBox="1"/>
          <p:nvPr/>
        </p:nvSpPr>
        <p:spPr>
          <a:xfrm>
            <a:off x="909745" y="1745253"/>
            <a:ext cx="1037250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UART?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Asynchronous Receiver/Transmitter (simple serial communication).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TX (Transmit) &amp; RX (Receive) lines.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between FPGA and PC via USB.</a:t>
            </a:r>
          </a:p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Add UART to PUF?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Collection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 all PUF responses directly to PC for logging.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Challenge Input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 challenges from PC without reprogramming FPGA.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Testing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Quickly gather CRPs from multiple boards.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Capability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 challenge–response exchange in real time on terminal.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Evaluation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Easily generate thousands of CRPs for statistical analysis.</a:t>
            </a:r>
          </a:p>
          <a:p>
            <a:pPr algn="just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Setup: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 (Python/Terminal) ⇄ UART ⇄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 (PUF Module)</a:t>
            </a:r>
          </a:p>
        </p:txBody>
      </p:sp>
    </p:spTree>
    <p:extLst>
      <p:ext uri="{BB962C8B-B14F-4D97-AF65-F5344CB8AC3E}">
        <p14:creationId xmlns:p14="http://schemas.microsoft.com/office/powerpoint/2010/main" val="3708136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C9D9-5B88-BDDF-D543-4C121EFD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DC56-776A-02A6-226B-6588E972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08" y="230345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INTEGRATION WITH THE PUF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AE563-9759-10FB-13D1-A10605E00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1BCCD7F3-5B4B-8997-3A5E-99DD7D35E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1D3EE-7E28-6AFC-38BB-D29C02A4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CACD34-360A-64AB-CBE0-6F2395DB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A91AE-7961-987E-75FC-AA729FA7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C81DD-E315-03BE-5872-E2E0E6763090}"/>
              </a:ext>
            </a:extLst>
          </p:cNvPr>
          <p:cNvSpPr txBox="1"/>
          <p:nvPr/>
        </p:nvSpPr>
        <p:spPr>
          <a:xfrm>
            <a:off x="593557" y="2165508"/>
            <a:ext cx="11004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UART Module with PUF design for challenge–response communication.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receiving challenges from PC via UART RX.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PUF response for each challenge.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responses back to PC via UART TX for logging and analysis.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data flow between PC ↔ FPGA ↔ PUF in simulation.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hardware testing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FPGA.</a:t>
            </a:r>
          </a:p>
        </p:txBody>
      </p:sp>
    </p:spTree>
    <p:extLst>
      <p:ext uri="{BB962C8B-B14F-4D97-AF65-F5344CB8AC3E}">
        <p14:creationId xmlns:p14="http://schemas.microsoft.com/office/powerpoint/2010/main" val="2739226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C484-7CE0-8102-C451-D172DA1E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B970-7DF1-86BB-C367-6DF53FAB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OF PUF WITH UART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F95B0-AD57-1819-49DE-752368363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0016456A-702A-0110-49D6-6036BC3B2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FFC6-B9D3-65B4-D73D-EA7219C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B4FC8-A3C2-271E-CF71-D7E450C2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71EE8-D3A8-5AF9-4990-9E458766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761590-E011-9D33-C5D5-48B68FC6C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7565" y="1114023"/>
            <a:ext cx="6164560" cy="479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37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E0434-334F-A77B-5999-46F54899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33C9-53EE-B188-607B-CFE42A7F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AFF6C-2B77-05F2-1819-93D31BEE2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3A354F57-A9EF-1C06-899E-24CAAD761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97F0C-78E3-83B4-AE23-E0C4FB91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D4F0F-248D-65F5-FD20-CAFBEF97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2467F-13F7-0B05-AF0C-CDA637BA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298A29-5506-1A82-44DC-83DEAD2533EF}"/>
              </a:ext>
            </a:extLst>
          </p:cNvPr>
          <p:cNvGraphicFramePr>
            <a:graphicFrameLocks noGrp="1"/>
          </p:cNvGraphicFramePr>
          <p:nvPr/>
        </p:nvGraphicFramePr>
        <p:xfrm>
          <a:off x="2671010" y="1218738"/>
          <a:ext cx="6406320" cy="48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720">
                  <a:extLst>
                    <a:ext uri="{9D8B030D-6E8A-4147-A177-3AD203B41FA5}">
                      <a16:colId xmlns:a16="http://schemas.microsoft.com/office/drawing/2014/main" val="4007589792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4198536211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286219802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062679177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3769701247"/>
                    </a:ext>
                  </a:extLst>
                </a:gridCol>
                <a:gridCol w="1067720">
                  <a:extLst>
                    <a:ext uri="{9D8B030D-6E8A-4147-A177-3AD203B41FA5}">
                      <a16:colId xmlns:a16="http://schemas.microsoft.com/office/drawing/2014/main" val="1622513464"/>
                    </a:ext>
                  </a:extLst>
                </a:gridCol>
              </a:tblGrid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Binary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308136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1915345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8673101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2881096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534746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1273629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4137442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463590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00000111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0305372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3314818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2339723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3697119"/>
                  </a:ext>
                </a:extLst>
              </a:tr>
              <a:tr h="993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0368670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0149534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024053"/>
                  </a:ext>
                </a:extLst>
              </a:tr>
              <a:tr h="2893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65305"/>
                  </a:ext>
                </a:extLst>
              </a:tr>
              <a:tr h="1962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00001111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51635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616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8F14-A5DE-1F41-F951-2CA2DF1A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F354-D76E-83C0-30BD-73D88CE3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7873B-2860-7CF2-A665-12E1FA8C5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EE1642F-2A41-F42A-17A6-6B332A705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C9719-7F14-08A2-1BF4-56CF9174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23F5D-01A2-DB9B-6D24-2272241C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2F725-2558-E2A2-EF08-410C699B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A0E17-9F53-997C-4E84-D0E63BCE309C}"/>
              </a:ext>
            </a:extLst>
          </p:cNvPr>
          <p:cNvSpPr txBox="1"/>
          <p:nvPr/>
        </p:nvSpPr>
        <p:spPr>
          <a:xfrm>
            <a:off x="1398860" y="1652562"/>
            <a:ext cx="93942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entries N = 256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1s N1 = 84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0s N0 = 172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the percentage of each: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1s = (N1 / N) × 100 = (84 / 256) × 100 ≈ 32.81%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0s = (N0 / N) × 100 = (172 / 256) × 100 ≈ 67.19%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 = 32.81%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0s = 67.19%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the output is biased toward 0s.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PUF randomness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responses should be randomly distributed, ideally 50% 1s and 50% 0s</a:t>
            </a:r>
            <a:r>
              <a:rPr lang="en-US" dirty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009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3FF7-4913-23BA-39D7-07C3AFEC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1C52-671E-A319-7BF7-FD71E6AED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10" y="0"/>
            <a:ext cx="6849979" cy="138093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PUF METRICS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0E4D3-22D5-DE27-C3FA-D8EEF01E0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C96502AC-EB65-A3DC-68E2-6949E29F2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CBFDB-0D38-A7D9-7D75-DBA2E4D9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58F9FE-5871-68A3-FC5E-6D01339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B287D-3A6F-182C-434E-CD847DA9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6289"/>
            <a:ext cx="2743200" cy="365125"/>
          </a:xfrm>
        </p:spPr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D975-1C5D-38D8-14B1-9956D28469F1}"/>
              </a:ext>
            </a:extLst>
          </p:cNvPr>
          <p:cNvSpPr txBox="1"/>
          <p:nvPr/>
        </p:nvSpPr>
        <p:spPr>
          <a:xfrm>
            <a:off x="1083365" y="1652920"/>
            <a:ext cx="102704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FPGA responses: </a:t>
            </a:r>
            <a:r>
              <a:rPr lang="en-US" b="1" dirty="0"/>
              <a:t>255 out of 256</a:t>
            </a:r>
            <a:r>
              <a:rPr lang="en-US" dirty="0"/>
              <a:t> match the reference</a:t>
            </a:r>
          </a:p>
          <a:p>
            <a:r>
              <a:rPr lang="en-US" b="1" dirty="0"/>
              <a:t>Stability Formula:</a:t>
            </a:r>
          </a:p>
          <a:p>
            <a:br>
              <a:rPr lang="en-US" dirty="0"/>
            </a:br>
            <a:r>
              <a:rPr lang="en-US" dirty="0"/>
              <a:t>	Stability (%) = (Number of matching responses / Total responses) × 100</a:t>
            </a:r>
          </a:p>
          <a:p>
            <a:r>
              <a:rPr lang="en-US" b="1" dirty="0"/>
              <a:t>Step-by-Step Calculation:</a:t>
            </a:r>
            <a:endParaRPr lang="en-US" dirty="0"/>
          </a:p>
          <a:p>
            <a:r>
              <a:rPr lang="en-US" dirty="0"/>
              <a:t>	Stability (%) = 255 / 256 × 100</a:t>
            </a:r>
          </a:p>
          <a:p>
            <a:r>
              <a:rPr lang="en-US" dirty="0"/>
              <a:t>	255 ÷ 256 = 0.99609375</a:t>
            </a:r>
          </a:p>
          <a:p>
            <a:r>
              <a:rPr lang="en-US" dirty="0"/>
              <a:t>	0.99609375 × 100 ≈ 99.61%</a:t>
            </a:r>
          </a:p>
          <a:p>
            <a:endParaRPr lang="en-US" dirty="0"/>
          </a:p>
          <a:p>
            <a:r>
              <a:rPr lang="en-US" b="1" dirty="0"/>
              <a:t> Result:</a:t>
            </a:r>
            <a:br>
              <a:rPr lang="en-US" dirty="0"/>
            </a:br>
            <a:r>
              <a:rPr lang="en-US" dirty="0"/>
              <a:t>	Stability = 99.61%</a:t>
            </a:r>
          </a:p>
          <a:p>
            <a:r>
              <a:rPr lang="en-US" b="1" dirty="0"/>
              <a:t>Interpretation:</a:t>
            </a:r>
          </a:p>
          <a:p>
            <a:endParaRPr lang="en-US" dirty="0"/>
          </a:p>
          <a:p>
            <a:r>
              <a:rPr lang="en-US" dirty="0"/>
              <a:t>	The PUF is </a:t>
            </a:r>
            <a:r>
              <a:rPr lang="en-US" b="1" dirty="0"/>
              <a:t>extremely stable</a:t>
            </a:r>
            <a:endParaRPr lang="en-US" dirty="0"/>
          </a:p>
          <a:p>
            <a:r>
              <a:rPr lang="en-US" dirty="0"/>
              <a:t>	Only </a:t>
            </a:r>
            <a:r>
              <a:rPr lang="en-US" b="1" dirty="0"/>
              <a:t>1 response out of 256</a:t>
            </a:r>
            <a:r>
              <a:rPr lang="en-US" dirty="0"/>
              <a:t> flips</a:t>
            </a:r>
          </a:p>
        </p:txBody>
      </p:sp>
    </p:spTree>
    <p:extLst>
      <p:ext uri="{BB962C8B-B14F-4D97-AF65-F5344CB8AC3E}">
        <p14:creationId xmlns:p14="http://schemas.microsoft.com/office/powerpoint/2010/main" val="2401549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B1122-681E-AC49-A70C-088C28E1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C0ECB-4176-8DF8-94B3-D1FAC8C6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72273-3E26-7F4B-3E2C-B906FA97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6043E-523E-955C-504E-3E1C45BF5822}"/>
              </a:ext>
            </a:extLst>
          </p:cNvPr>
          <p:cNvSpPr txBox="1"/>
          <p:nvPr/>
        </p:nvSpPr>
        <p:spPr>
          <a:xfrm>
            <a:off x="2602433" y="460690"/>
            <a:ext cx="6987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Modifications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BF618-8BC1-D7B7-AA2F-A76B736B2DB7}"/>
              </a:ext>
            </a:extLst>
          </p:cNvPr>
          <p:cNvSpPr txBox="1"/>
          <p:nvPr/>
        </p:nvSpPr>
        <p:spPr>
          <a:xfrm>
            <a:off x="1316048" y="1877661"/>
            <a:ext cx="955990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Virtual Input/Output (VIO):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Replace UART for direct hardware-level interaction and faster on-board testing.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Enabled on-board challenge/response visualization and reduced dependency on PC serial communication.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UART integration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external logging and verification during previous tests.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did not increase the number of challenge inputs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experiments focused on interface/method changes only.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D16C69-B0AA-67BB-A0D8-BE4962240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0" name="Freeform 5">
            <a:extLst>
              <a:ext uri="{FF2B5EF4-FFF2-40B4-BE49-F238E27FC236}">
                <a16:creationId xmlns:a16="http://schemas.microsoft.com/office/drawing/2014/main" id="{98D08C50-AB3F-F9CD-CE3F-AB49FBF1CE60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752759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SCHEMATIC DIAGRAM OF PUF WITH VIO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BDD40-3C5C-460D-9435-C2CE1C83A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09911"/>
            <a:ext cx="11410950" cy="41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36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75819" y="2043183"/>
            <a:ext cx="100863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87.5% response repeatability, showing minimal bit flips across trials.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Efforts to increase inter-chip variation through VIO and interface modifications resulted in a uniqueness of only 12.5%.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Vivado’s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placement and routing tends to produce similar delay paths, limiting inter-device variation.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reliability; uniqueness remains constrained by FPGA-level optimization. 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19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52B1-8356-26D7-B3BC-4975C3D4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77B24-D127-5CDA-666F-852B89D8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713F2-7B29-519E-C7C5-49B141F9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A7F48-BA24-93ED-39D1-2DB723B6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7F917-DD33-DCF2-4297-FCE090FC302A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180B2AD-47B0-F61C-D6D5-0985FFBBF70B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A9F779-F668-D2F9-973A-AC2436BE0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094E0A-3608-FE24-6073-B23DD801D0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92"/>
          <a:stretch>
            <a:fillRect/>
          </a:stretch>
        </p:blipFill>
        <p:spPr>
          <a:xfrm>
            <a:off x="1283421" y="2297040"/>
            <a:ext cx="9625156" cy="37261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643BA0-B489-3064-9DEB-FBBE18371333}"/>
              </a:ext>
            </a:extLst>
          </p:cNvPr>
          <p:cNvSpPr txBox="1"/>
          <p:nvPr/>
        </p:nvSpPr>
        <p:spPr>
          <a:xfrm>
            <a:off x="1219513" y="17398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of LUTs</a:t>
            </a:r>
          </a:p>
        </p:txBody>
      </p:sp>
    </p:spTree>
    <p:extLst>
      <p:ext uri="{BB962C8B-B14F-4D97-AF65-F5344CB8AC3E}">
        <p14:creationId xmlns:p14="http://schemas.microsoft.com/office/powerpoint/2010/main" val="3225790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60BC-76E6-952A-2FFB-7ED6585C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8ED36-2525-9AEC-AD0D-487FFA0A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547CE-71D5-6A42-CA65-68A0A09A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A621-56DB-8B90-FFFD-87FFA2C5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1959E-DED5-B32E-1915-31EAE3E9DCED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9DF4FD8A-05F1-1C56-8088-C91D251E878C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79FEBB-45AD-CBD6-E37D-CF7816134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EAC4DF-CE16-63CB-C592-0BB64B78A764}"/>
              </a:ext>
            </a:extLst>
          </p:cNvPr>
          <p:cNvSpPr txBox="1"/>
          <p:nvPr/>
        </p:nvSpPr>
        <p:spPr>
          <a:xfrm>
            <a:off x="838200" y="179231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LUTs Assigned Outside It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8B8C2-1648-3496-BA25-15ED55AF6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4" y="2325553"/>
            <a:ext cx="10419736" cy="407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36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A3A23-9CE1-768B-67E5-041A48829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D6D98-0F3C-8F2D-26BC-1802E491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C80D6-EDB1-C222-22BF-881EF766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83479-A8C6-47F7-AC02-B321B88F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F3793-9EC5-4F11-F1A9-7D02EFA4A511}"/>
              </a:ext>
            </a:extLst>
          </p:cNvPr>
          <p:cNvSpPr txBox="1"/>
          <p:nvPr/>
        </p:nvSpPr>
        <p:spPr>
          <a:xfrm>
            <a:off x="3516833" y="321087"/>
            <a:ext cx="51583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EA937E7F-CED2-E2FE-61F9-3DA41DC1ED6A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872C0-1D29-8842-8121-4CDC92E42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8F2A7F-2C00-EA67-5997-88798FBB9129}"/>
              </a:ext>
            </a:extLst>
          </p:cNvPr>
          <p:cNvSpPr txBox="1"/>
          <p:nvPr/>
        </p:nvSpPr>
        <p:spPr>
          <a:xfrm>
            <a:off x="825910" y="170787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LUTs Placed Inside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60E16-C532-C241-46C8-2DB90A1788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94" t="396" r="894" b="-396"/>
          <a:stretch>
            <a:fillRect/>
          </a:stretch>
        </p:blipFill>
        <p:spPr>
          <a:xfrm>
            <a:off x="739878" y="2337198"/>
            <a:ext cx="10992736" cy="403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73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3323057" y="571254"/>
            <a:ext cx="5545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16825" y="1870681"/>
            <a:ext cx="1008632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Stability: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98.8% response repeatability using UART-based manual verification, ensuring reliable and consistent responses.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35.44% inter-chip uniqueness using UART-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basedtesting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Vivado’s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placement and routing still cause similar delay paths across FPGAs.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alt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stability (98.8%) with improved uniqueness (35.44%) using UART-based manual testing; uniqueness remains limited by FPGA routing optimization.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463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4EF26-597F-CCB9-5FB7-EDF9DCD6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BD1B7-F9CD-A237-190F-1510A108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510B9-FFD6-BE3C-40B5-D7AF0DB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D6823-635B-8E69-344B-E79401622925}"/>
              </a:ext>
            </a:extLst>
          </p:cNvPr>
          <p:cNvSpPr txBox="1"/>
          <p:nvPr/>
        </p:nvSpPr>
        <p:spPr>
          <a:xfrm>
            <a:off x="2138362" y="768910"/>
            <a:ext cx="7915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 RESULTS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B362-3B26-FD32-EFFF-90318FEDB38B}"/>
              </a:ext>
            </a:extLst>
          </p:cNvPr>
          <p:cNvSpPr txBox="1"/>
          <p:nvPr/>
        </p:nvSpPr>
        <p:spPr>
          <a:xfrm>
            <a:off x="1116825" y="1870681"/>
            <a:ext cx="10086321" cy="3237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of the PUF was evaluated based on industry-standard metrics.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achieved 98.8% stability, demonstrating high reliability and consistency of the response bits across varying environmental conditions.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inter-chip Hamming distance analysis yielded a uniqueness score of 16.47%(for 8bit), which is below the ideal value of 50%, indicating weak device-specific differentiation.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3BE4167-EB26-A4E1-5BAD-4D2344F88E28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5D8481-C98E-A8F5-4713-F80A9DE85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5"/>
            <a:ext cx="1066540" cy="10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92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600" b="1" dirty="0">
                <a:latin typeface="Times New Roman" panose="02020603050405020304" pitchFamily="18" charset="0"/>
              </a:rPr>
              <a:t>FPGA Implementation Flow &amp; Validation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4099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The design was implemented on an FPGA using the Xilinx </a:t>
            </a:r>
            <a:r>
              <a:rPr lang="en-US" altLang="en-US" sz="2000" dirty="0" err="1">
                <a:latin typeface="Times New Roman" panose="02020603050405020304" pitchFamily="18" charset="0"/>
              </a:rPr>
              <a:t>Vivado</a:t>
            </a:r>
            <a:r>
              <a:rPr lang="en-US" altLang="en-US" sz="2000" dirty="0">
                <a:latin typeface="Times New Roman" panose="02020603050405020304" pitchFamily="18" charset="0"/>
              </a:rPr>
              <a:t> Design Suite, following a standard RTL-to-bitstream methodology.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The flow consisted of RTL design, followed by logic synthesis, and finally place and route (P&amp;R) to generate the device-specific bitstream.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Timing closure was successfully achieved by analyzing and meeting setup and hold time requirements, indicated by a positive Worst Negative Slack (WNS) and zero Total Negative Slack (TNS). Resource utilization was monitored to ensure design efficiency.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Functional validation was conducted on the hardware through manual testing, using a UART interface to send challenges and receive responses from the PUF.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7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IMPLEMENTATION FLOW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349806" y="2217173"/>
            <a:ext cx="10003994" cy="3176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SYNTHESIS: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RTL code was synthesized for an ASIC using Cadence Genus.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synthesis produced a gate-level netlist and an SDC file describing the timing requirements.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targets the SCL 180 nm technology and includes I/O pad cells from the SCL PDK. 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netlist is now ready for physical design steps such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floorplanning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power planning, and PNR.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6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838200" y="1892636"/>
            <a:ext cx="10515600" cy="86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Cell &amp; Path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syn_opt_gates.rpt</a:t>
            </a:r>
            <a:r>
              <a:rPr lang="en-US" altLang="en-US" sz="2000" b="1" dirty="0">
                <a:latin typeface="Times New Roman" panose="02020603050405020304" pitchFamily="18" charset="0"/>
              </a:rPr>
              <a:t>): </a:t>
            </a:r>
            <a:r>
              <a:rPr lang="en-US" altLang="en-US" sz="2000" dirty="0">
                <a:latin typeface="Times New Roman" panose="02020603050405020304" pitchFamily="18" charset="0"/>
              </a:rPr>
              <a:t>Provides a breakdown of standard cell counts, overall logic depth, and a detailed analysis of the critical timing paths in the design.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7F19E4-57AB-4F60-85EF-E5F22C1A5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882189"/>
            <a:ext cx="5348114" cy="3352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D51951-E244-41E1-8D7F-13F70D3A4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288" y="2916871"/>
            <a:ext cx="5495526" cy="331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98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349806" y="1892636"/>
            <a:ext cx="10003994" cy="867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Area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area.rpt</a:t>
            </a:r>
            <a:r>
              <a:rPr lang="en-US" altLang="en-US" sz="2000" dirty="0">
                <a:latin typeface="Times New Roman" panose="02020603050405020304" pitchFamily="18" charset="0"/>
              </a:rPr>
              <a:t>): Confirms the total combinational and non-combinational cell area, with a hierarchical breakdown for each module.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BBEEDB-C057-4305-B652-16369173E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439" y="2809359"/>
            <a:ext cx="7197428" cy="349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86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99409" y="741355"/>
            <a:ext cx="8082791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altLang="en-US" sz="3200" b="1" dirty="0">
                <a:latin typeface="Times New Roman" panose="02020603050405020304" pitchFamily="18" charset="0"/>
              </a:rPr>
              <a:t>ASIC POST-SYNTHESIS 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1419604" y="2090742"/>
            <a:ext cx="4521200" cy="2252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sz="2000" b="1" dirty="0">
                <a:latin typeface="Times New Roman" panose="02020603050405020304" pitchFamily="18" charset="0"/>
              </a:rPr>
              <a:t>Quality of Result Report (</a:t>
            </a:r>
            <a:r>
              <a:rPr lang="en-US" altLang="en-US" sz="2000" b="1" dirty="0" err="1">
                <a:latin typeface="Times New Roman" panose="02020603050405020304" pitchFamily="18" charset="0"/>
              </a:rPr>
              <a:t>qor.rpt</a:t>
            </a:r>
            <a:r>
              <a:rPr lang="en-US" altLang="en-US" sz="2000" dirty="0">
                <a:latin typeface="Times New Roman" panose="02020603050405020304" pitchFamily="18" charset="0"/>
              </a:rPr>
              <a:t>): Indicates a clean synthesis run with no unconstrained paths, acceptable WNS/TNS, and no violations for maximum transition or maximum fanout design rules.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58D540-55A0-4753-A148-EF3DAB82F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198" y="2090742"/>
            <a:ext cx="4020982" cy="381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4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98123-E03A-701F-6E81-AF0B696B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8506-7477-71B9-5CBD-8A8D680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5A4C-956B-F177-29C7-FA8CD857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B1E3-F4BD-163A-4170-EA75C7BF1AC7}"/>
              </a:ext>
            </a:extLst>
          </p:cNvPr>
          <p:cNvSpPr txBox="1"/>
          <p:nvPr/>
        </p:nvSpPr>
        <p:spPr>
          <a:xfrm>
            <a:off x="4460046" y="365126"/>
            <a:ext cx="3677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BF4579-69D4-0E5E-8ED9-FBA1D277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037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floorplanning or routing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Vivado to try to preserve physical delay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PUF architectures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XOR Arbiter PUF, RO-PUF) or different FPGA families for improved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(temperature/voltage) to further evaluate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demo and metric comparison table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next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A4058-2CA6-62D2-B594-B17773AEB707}"/>
              </a:ext>
            </a:extLst>
          </p:cNvPr>
          <p:cNvSpPr txBox="1"/>
          <p:nvPr/>
        </p:nvSpPr>
        <p:spPr>
          <a:xfrm>
            <a:off x="983655" y="1243096"/>
            <a:ext cx="99688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PUF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7CBDDFF-031E-F711-2FBB-C3CE85CB016C}"/>
              </a:ext>
            </a:extLst>
          </p:cNvPr>
          <p:cNvSpPr/>
          <p:nvPr/>
        </p:nvSpPr>
        <p:spPr>
          <a:xfrm>
            <a:off x="10068560" y="485659"/>
            <a:ext cx="1523808" cy="769442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9E40F-065C-1949-76CC-1B62D79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6"/>
            <a:ext cx="827949" cy="821778"/>
          </a:xfrm>
          <a:prstGeom prst="rect">
            <a:avLst/>
          </a:prstGeom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DABDA63-F89F-4A82-9C15-010C207CF00F}"/>
              </a:ext>
            </a:extLst>
          </p:cNvPr>
          <p:cNvGraphicFramePr>
            <a:graphicFrameLocks noGrp="1"/>
          </p:cNvGraphicFramePr>
          <p:nvPr/>
        </p:nvGraphicFramePr>
        <p:xfrm>
          <a:off x="983656" y="1820177"/>
          <a:ext cx="10224689" cy="433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937">
                  <a:extLst>
                    <a:ext uri="{9D8B030D-6E8A-4147-A177-3AD203B41FA5}">
                      <a16:colId xmlns:a16="http://schemas.microsoft.com/office/drawing/2014/main" val="1735040481"/>
                    </a:ext>
                  </a:extLst>
                </a:gridCol>
                <a:gridCol w="1971490">
                  <a:extLst>
                    <a:ext uri="{9D8B030D-6E8A-4147-A177-3AD203B41FA5}">
                      <a16:colId xmlns:a16="http://schemas.microsoft.com/office/drawing/2014/main" val="639595610"/>
                    </a:ext>
                  </a:extLst>
                </a:gridCol>
                <a:gridCol w="5431262">
                  <a:extLst>
                    <a:ext uri="{9D8B030D-6E8A-4147-A177-3AD203B41FA5}">
                      <a16:colId xmlns:a16="http://schemas.microsoft.com/office/drawing/2014/main" val="947625141"/>
                    </a:ext>
                  </a:extLst>
                </a:gridCol>
              </a:tblGrid>
              <a:tr h="385483">
                <a:tc>
                  <a:txBody>
                    <a:bodyPr/>
                    <a:lstStyle/>
                    <a:p>
                      <a:r>
                        <a:rPr lang="en-IN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Calculation /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0180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Total Challenges /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Based on an 8-bit challenge space (</a:t>
                      </a:r>
                      <a:r>
                        <a:rPr lang="en-IN" b="0" dirty="0"/>
                        <a:t>2⁸</a:t>
                      </a:r>
                      <a:r>
                        <a:rPr lang="en-US" dirty="0"/>
                        <a:t>−1)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69005"/>
                  </a:ext>
                </a:extLst>
              </a:tr>
              <a:tr h="5923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118 (46.27%)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balanced, indicating good randomness                                     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31466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114 (44.71%)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balanced, indicating good randomness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90836"/>
                  </a:ext>
                </a:extLst>
              </a:tr>
              <a:tr h="534627">
                <a:tc>
                  <a:txBody>
                    <a:bodyPr/>
                    <a:lstStyle/>
                    <a:p>
                      <a:r>
                        <a:rPr lang="en-IN" dirty="0"/>
                        <a:t>Flipped Bits (Inter-Chip HD)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bits that differ between two FPGAs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5466"/>
                  </a:ext>
                </a:extLst>
              </a:tr>
              <a:tr h="763752">
                <a:tc>
                  <a:txBody>
                    <a:bodyPr/>
                    <a:lstStyle/>
                    <a:p>
                      <a:r>
                        <a:rPr lang="en-IN" dirty="0"/>
                        <a:t> Uniqueness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(42/255)×100  Low result (ideal ≈ 50%)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77430"/>
                  </a:ext>
                </a:extLst>
              </a:tr>
              <a:tr h="992878">
                <a:tc>
                  <a:txBody>
                    <a:bodyPr/>
                    <a:lstStyle/>
                    <a:p>
                      <a:r>
                        <a:rPr lang="en-IN" dirty="0"/>
                        <a:t>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High reliability, suitable for security 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0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8FB9-25C4-A28F-1B3C-D3BF3CB9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0C9B-30D0-41BA-2907-190F43AC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009" y="200132"/>
            <a:ext cx="6406320" cy="92480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625CC-21B1-4C4A-E6F8-420A1D3B5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D6A867FF-294E-24C4-C9EA-99BB4A57C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5E13A-B309-5127-A635-7BB7CBF8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5B81B4-8586-CCC5-870B-41FD0D3B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B5E28-D0B7-10BB-4195-C1CCACD8F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56C1DC-097E-8A9F-CAC4-456523B65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499784"/>
              </p:ext>
            </p:extLst>
          </p:nvPr>
        </p:nvGraphicFramePr>
        <p:xfrm>
          <a:off x="2451467" y="1668788"/>
          <a:ext cx="7289065" cy="4593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813">
                  <a:extLst>
                    <a:ext uri="{9D8B030D-6E8A-4147-A177-3AD203B41FA5}">
                      <a16:colId xmlns:a16="http://schemas.microsoft.com/office/drawing/2014/main" val="4007589792"/>
                    </a:ext>
                  </a:extLst>
                </a:gridCol>
                <a:gridCol w="1457813">
                  <a:extLst>
                    <a:ext uri="{9D8B030D-6E8A-4147-A177-3AD203B41FA5}">
                      <a16:colId xmlns:a16="http://schemas.microsoft.com/office/drawing/2014/main" val="4198536211"/>
                    </a:ext>
                  </a:extLst>
                </a:gridCol>
                <a:gridCol w="1457813">
                  <a:extLst>
                    <a:ext uri="{9D8B030D-6E8A-4147-A177-3AD203B41FA5}">
                      <a16:colId xmlns:a16="http://schemas.microsoft.com/office/drawing/2014/main" val="3286219802"/>
                    </a:ext>
                  </a:extLst>
                </a:gridCol>
                <a:gridCol w="1457813">
                  <a:extLst>
                    <a:ext uri="{9D8B030D-6E8A-4147-A177-3AD203B41FA5}">
                      <a16:colId xmlns:a16="http://schemas.microsoft.com/office/drawing/2014/main" val="3062679177"/>
                    </a:ext>
                  </a:extLst>
                </a:gridCol>
                <a:gridCol w="1457813">
                  <a:extLst>
                    <a:ext uri="{9D8B030D-6E8A-4147-A177-3AD203B41FA5}">
                      <a16:colId xmlns:a16="http://schemas.microsoft.com/office/drawing/2014/main" val="3769701247"/>
                    </a:ext>
                  </a:extLst>
                </a:gridCol>
              </a:tblGrid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hallenge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Response-1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Response-1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Response-2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Response-2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43081368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1915345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98673101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22881096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75347468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1273629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4137442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9463590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70305372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3314818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2339723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83697119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80368670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70149534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4024053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65305"/>
                  </a:ext>
                </a:extLst>
              </a:tr>
              <a:tr h="270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516358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F6E267-F10F-22CE-D75B-053904648765}"/>
              </a:ext>
            </a:extLst>
          </p:cNvPr>
          <p:cNvSpPr txBox="1"/>
          <p:nvPr/>
        </p:nvSpPr>
        <p:spPr>
          <a:xfrm>
            <a:off x="1452043" y="1196808"/>
            <a:ext cx="24379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bit PUF Response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060296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98123-E03A-701F-6E81-AF0B696B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98506-7477-71B9-5CBD-8A8D680F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5A4C-956B-F177-29C7-FA8CD857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CB1E3-F4BD-163A-4170-EA75C7BF1AC7}"/>
              </a:ext>
            </a:extLst>
          </p:cNvPr>
          <p:cNvSpPr txBox="1"/>
          <p:nvPr/>
        </p:nvSpPr>
        <p:spPr>
          <a:xfrm>
            <a:off x="4460046" y="365126"/>
            <a:ext cx="36779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5BF4579-69D4-0E5E-8ED9-FBA1D2771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9037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floorplanning or routing constraints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Vivado to try to preserve physical delay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PUF architectures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XOR Arbiter PUF, RO-PUF) or different FPGA families for improved uniqueness.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testing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(temperature/voltage) to further evaluate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demo and metric comparison table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next review.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A4058-2CA6-62D2-B594-B17773AEB707}"/>
              </a:ext>
            </a:extLst>
          </p:cNvPr>
          <p:cNvSpPr txBox="1"/>
          <p:nvPr/>
        </p:nvSpPr>
        <p:spPr>
          <a:xfrm>
            <a:off x="983655" y="1243096"/>
            <a:ext cx="996882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PUF Analysis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17CBDDFF-031E-F711-2FBB-C3CE85CB016C}"/>
              </a:ext>
            </a:extLst>
          </p:cNvPr>
          <p:cNvSpPr/>
          <p:nvPr/>
        </p:nvSpPr>
        <p:spPr>
          <a:xfrm>
            <a:off x="10068560" y="485659"/>
            <a:ext cx="1523808" cy="769442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29E40F-065C-1949-76CC-1B62D7918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60771" y="365126"/>
            <a:ext cx="827949" cy="821778"/>
          </a:xfrm>
          <a:prstGeom prst="rect">
            <a:avLst/>
          </a:prstGeom>
        </p:spPr>
      </p:pic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DABDA63-F89F-4A82-9C15-010C207C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15673"/>
              </p:ext>
            </p:extLst>
          </p:nvPr>
        </p:nvGraphicFramePr>
        <p:xfrm>
          <a:off x="983656" y="1820177"/>
          <a:ext cx="10224689" cy="4419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1937">
                  <a:extLst>
                    <a:ext uri="{9D8B030D-6E8A-4147-A177-3AD203B41FA5}">
                      <a16:colId xmlns:a16="http://schemas.microsoft.com/office/drawing/2014/main" val="1735040481"/>
                    </a:ext>
                  </a:extLst>
                </a:gridCol>
                <a:gridCol w="1971490">
                  <a:extLst>
                    <a:ext uri="{9D8B030D-6E8A-4147-A177-3AD203B41FA5}">
                      <a16:colId xmlns:a16="http://schemas.microsoft.com/office/drawing/2014/main" val="639595610"/>
                    </a:ext>
                  </a:extLst>
                </a:gridCol>
                <a:gridCol w="5431262">
                  <a:extLst>
                    <a:ext uri="{9D8B030D-6E8A-4147-A177-3AD203B41FA5}">
                      <a16:colId xmlns:a16="http://schemas.microsoft.com/office/drawing/2014/main" val="947625141"/>
                    </a:ext>
                  </a:extLst>
                </a:gridCol>
              </a:tblGrid>
              <a:tr h="383205">
                <a:tc>
                  <a:txBody>
                    <a:bodyPr/>
                    <a:lstStyle/>
                    <a:p>
                      <a:r>
                        <a:rPr lang="en-IN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Calculation /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30180"/>
                  </a:ext>
                </a:extLst>
              </a:tr>
              <a:tr h="531468">
                <a:tc>
                  <a:txBody>
                    <a:bodyPr/>
                    <a:lstStyle/>
                    <a:p>
                      <a:r>
                        <a:rPr lang="en-IN" dirty="0"/>
                        <a:t>Total Challenges / Bits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65,536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Based on a 16-bit challenge space (</a:t>
                      </a:r>
                      <a:r>
                        <a:rPr lang="en-IN" b="0" dirty="0"/>
                        <a:t>2¹⁶</a:t>
                      </a:r>
                      <a:r>
                        <a:rPr lang="en-US" b="0" dirty="0"/>
                        <a:t>) 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169005"/>
                  </a:ext>
                </a:extLst>
              </a:tr>
              <a:tr h="588827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32,437 (49.50%)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balance, close to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231466"/>
                  </a:ext>
                </a:extLst>
              </a:tr>
              <a:tr h="531468">
                <a:tc>
                  <a:txBody>
                    <a:bodyPr/>
                    <a:lstStyle/>
                    <a:p>
                      <a:r>
                        <a:rPr lang="en-IN" dirty="0"/>
                        <a:t>Ones in Response FPGA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32,628 (49.79%)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balance, close to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90836"/>
                  </a:ext>
                </a:extLst>
              </a:tr>
              <a:tr h="636297">
                <a:tc>
                  <a:txBody>
                    <a:bodyPr/>
                    <a:lstStyle/>
                    <a:p>
                      <a:r>
                        <a:rPr lang="en-IN" dirty="0"/>
                        <a:t>Flipped Bits (Inter-Chip HD)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23,225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number of bits differing between FPGA 1 and FPGA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905466"/>
                  </a:ext>
                </a:extLst>
              </a:tr>
              <a:tr h="757364">
                <a:tc>
                  <a:txBody>
                    <a:bodyPr/>
                    <a:lstStyle/>
                    <a:p>
                      <a:r>
                        <a:rPr lang="en-IN" dirty="0"/>
                        <a:t> Uniqueness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35.44%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result, approaching the ideal 50%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77430"/>
                  </a:ext>
                </a:extLst>
              </a:tr>
              <a:tr h="987011">
                <a:tc>
                  <a:txBody>
                    <a:bodyPr/>
                    <a:lstStyle/>
                    <a:p>
                      <a:r>
                        <a:rPr lang="en-IN" dirty="0"/>
                        <a:t>Stability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reliability, suitable for security applications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091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" y="1597793"/>
            <a:ext cx="10862912" cy="467542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Areno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,“Correlation-based robust authentication(cobra) using helper data only,” Cryptography, vol. 2, no. 3, 2018, Art. no. 21. [Online]. Available: https://www.mdpi.com/2410--387X/2/3/21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D.Heeger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“Analysis of IoT authentication over LoRa,” in Proc. IEEE 16th Int. Conf.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Sensor Syst., 2020, pp. 458–465.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J.Plusquellic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“Shift register,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reconvergent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-fanout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SiRF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PUF implementation on an FPGA,” Cryptography, vol. 6, no. 4, 2022, Art. no. 59. [Online]. Available: https://www.mdpi.com/2410--387X/6/4/59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Rührmair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“PUF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attacks on simulated and silicon data,” IEEE Trans. Inf. Forensics Security, vol. 8, no. 11, pp. 1876–1891, Nov. 2013.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T. Becker, “On the pitfalls of using Arbiter-PUFs as building blocks,” IEEE Trans.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.-Aided Design Integer. Circuits Syst., vol. 34, no. 8, pp. 1295–1307, Aug. 2015.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Wen and Y. Lao, “Enhancing PUF reliability by machine learning,” in Proc. IEEE Int. Symp. Circuits Syst., 2017,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H.Awano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T.Iizuka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M.Ikeda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“PUF Net :A deep neural network based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attack for physically unclonable function,” in Proc. IEEE Int. Symp. Circuits Syst., 2019, pp. 1–4.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Xu, Y. Lao, W. Liu, Z. Zhang, X. You, and C. Zhang, “Mathematical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analysis of strong physical unclonable functions,” IEEE Trans.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Comput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.-Aided Design Integer. Circuits Syst., vol. 39, no. 12, pp. 4426–4438, Dec. 2020.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J. Delvaux, “Machine-learning attacks 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PolyPUFs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OB-PUFs, RPUFs, LHS-PUFs and PUF-FSMs,”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IEEETrans.Inf.Forensics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Security, vol. 14, no. 8, pp. 2043–2058, Aug. 2019. 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Y. Lao and K. K.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Parhi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“Statistical analysis of MUX-based physical unclonablefunctions,”IEEETrans.Comput.-AidedDesignIntegr.Circuits Syst., vol. 33, no. 5, pp. 649–662, May 2014.</a:t>
            </a:r>
          </a:p>
          <a:p>
            <a:pPr marL="0" indent="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26/11/2025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FINAL REVIEW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2968</Words>
  <Application>Microsoft Office PowerPoint</Application>
  <PresentationFormat>Widescreen</PresentationFormat>
  <Paragraphs>562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DESIGN AND DEVELOPMENT OF PUF FOR HARDWARE SECURITY UPDATE</vt:lpstr>
      <vt:lpstr>PowerPoint Presentation</vt:lpstr>
      <vt:lpstr>PowerPoint Presentation</vt:lpstr>
      <vt:lpstr>PowerPoint Presentation</vt:lpstr>
      <vt:lpstr>LITERATURE SURVEY</vt:lpstr>
      <vt:lpstr>LITERATURE SURVEY</vt:lpstr>
      <vt:lpstr>BLOCK  DIAGRAM</vt:lpstr>
      <vt:lpstr>TYPES OF PUF</vt:lpstr>
      <vt:lpstr>WEAK PUF</vt:lpstr>
      <vt:lpstr>STRONG PUF</vt:lpstr>
      <vt:lpstr>INTEGRATING UART INTO              PUF PROJECT</vt:lpstr>
      <vt:lpstr>UART INTEGRATION WITH THE PUF</vt:lpstr>
      <vt:lpstr> SCHEMATIC OF PUF WITH UART </vt:lpstr>
      <vt:lpstr>PUF METRICS</vt:lpstr>
      <vt:lpstr>PUF METRICS</vt:lpstr>
      <vt:lpstr>PUF METRICS</vt:lpstr>
      <vt:lpstr>PowerPoint Presentation</vt:lpstr>
      <vt:lpstr> SCHEMATIC DIAGRAM OF PUF WITH VIO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REFERENCES</vt:lpstr>
      <vt:lpstr> REFERENCES(Cntd.)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Dharshan Raghavan</dc:creator>
  <cp:lastModifiedBy>NAVABHARATHI T</cp:lastModifiedBy>
  <cp:revision>3</cp:revision>
  <dcterms:created xsi:type="dcterms:W3CDTF">2025-11-24T16:53:48Z</dcterms:created>
  <dcterms:modified xsi:type="dcterms:W3CDTF">2025-11-26T06:08:07Z</dcterms:modified>
</cp:coreProperties>
</file>