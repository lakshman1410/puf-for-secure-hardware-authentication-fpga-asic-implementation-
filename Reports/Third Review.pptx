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261" r:id="rId2"/>
    <p:sldId id="257" r:id="rId3"/>
    <p:sldId id="288" r:id="rId4"/>
    <p:sldId id="263" r:id="rId5"/>
    <p:sldId id="290" r:id="rId6"/>
    <p:sldId id="279" r:id="rId7"/>
    <p:sldId id="297" r:id="rId8"/>
    <p:sldId id="294" r:id="rId9"/>
    <p:sldId id="300" r:id="rId10"/>
    <p:sldId id="301" r:id="rId11"/>
    <p:sldId id="302" r:id="rId12"/>
    <p:sldId id="303" r:id="rId13"/>
    <p:sldId id="304" r:id="rId14"/>
    <p:sldId id="305" r:id="rId15"/>
    <p:sldId id="307" r:id="rId16"/>
    <p:sldId id="306" r:id="rId17"/>
    <p:sldId id="281" r:id="rId18"/>
    <p:sldId id="282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E0F140-A4C8-4266-B7BF-6F1EDDF6D9C1}" v="1" dt="2025-11-05T00:52:00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1"/>
    <p:restoredTop sz="94807"/>
  </p:normalViewPr>
  <p:slideViewPr>
    <p:cSldViewPr snapToGrid="0">
      <p:cViewPr>
        <p:scale>
          <a:sx n="66" d="100"/>
          <a:sy n="66" d="100"/>
        </p:scale>
        <p:origin x="1421" y="3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6681D-7503-4C80-A3BE-FFF690FE564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E86CB-CBCB-4DA2-9577-1F846804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8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B340-7ED3-EFB8-A275-1E952B837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088C8-2CC6-6F89-C178-9430B345E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4163-56AA-3594-2F32-3659240D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D061-A14E-46CE-9FB6-0E49DF4B7BA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8ABB0-D31F-AB31-91EA-029A7164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68945-5910-C5E7-E57F-7C603CAC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131B-772A-512E-732E-F631288D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D00E1-0080-552C-E780-89F1ADF4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5DD0-0C27-6863-7DB3-255B5473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20E1-BB5E-422A-86E5-3E31004346E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0CA44-7710-58FC-AB67-7100A0AE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7DAC2-6F3B-6D71-B9AD-21D5761A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0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F2F6-3E88-8451-BD41-BBF788B5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3E50-E408-7797-F89C-E20419CEE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9DAF-D4A9-81A5-5E0B-D9CE1A3F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425F-3DB9-4774-86E8-572ECFA137AB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734B-D908-EBB0-16D8-42FFD94B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77A44-DC1C-A7EC-4B74-7F8A2609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6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E1E6-0582-CE75-E5D1-5943CA9C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B96A-1C66-70D2-D8B0-9405C9A0E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4E488-0DD1-C197-6750-A7B38E8D3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34A54-344C-3517-0A05-0936A6C2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6677A-1FA7-4ACA-B091-BD1E8791D5A7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3D402-BBFC-BF5D-3C1E-ED2D4A59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F903F-3FDE-495E-78E0-7FC95B9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3912-6E6F-8912-9861-4520867C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5643-6370-5FFA-2C6D-7ACF4C57F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2CF07-4D19-2340-7822-757A77F1F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1555E-F458-F946-22B7-E4A04A619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1E1E5-1674-0A63-4CE2-A06289D21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78EC2-4AAF-5A68-6B0D-DB6DB2E6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B824-4714-4129-8AF6-403A74F7C102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FE90B-1F5E-28A1-2E18-AC500648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E1A41-8BCF-7114-9090-78DBF24F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8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B9A1-E543-9F76-88AF-F67CD5FF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6D779-5DE9-3042-8548-83336B1D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C4C4-D661-423B-A144-986ED2214CAA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B6602-5A6A-7329-8112-8F74E787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38D7F-01BC-4A51-77FC-B6882C4B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0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6B6FD-AF85-CFF1-390C-E4A09943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00EA-DB37-425A-B3EE-A1FFBF594214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6C8A6-F329-9E22-96C5-DCDB930E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7A9D-CD44-DBC9-EC9C-D9155078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0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3752-CCA2-3892-2C41-C28BDC67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1347-4D92-9ABF-1926-3A418BD2A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1061D-7170-656D-6F2F-58C51815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06B0-C9DD-A689-C2EA-40AEB4A0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C0DF-A739-4675-9F5D-EDDC57D34DDC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FA4F1-23B7-920C-F295-F366A43E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856CA-B708-A49C-4F88-CB8C32C0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6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5300-4F14-2D75-7E90-8017E9FA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2A702-B311-A33B-F583-D4818BC54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7CCA5-BA08-263C-8141-E32B7EA2C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73656-9453-5C13-508D-B6B5099B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7C97-3617-4A7F-9AB2-A12B17973EE9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F560E-4B9D-EEAB-F7AF-4FC2FA19B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EB3EC-EF31-1C0D-B03B-9200173D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2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67F9-D924-1CB9-BFD0-2686604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07C56-F0CF-C8FB-1D77-A26756C33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75CA9-B1FF-45C6-0BB7-63850228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3EA0-0EA7-4052-8FEF-378493996435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AAE7-4AFC-31E0-2604-6F3445BA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FCE9-CA44-0DD1-853F-7590D369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6FD15-E4FC-10D0-230B-BB440214E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ABD07-6CA9-2943-77F7-62F0CDB02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6E24-F508-422C-1155-764686D2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BE3CF-4E09-4AF8-9889-0F5A8738242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DAF3-E067-B45E-52E2-60F5ECCC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5C18-2ACB-8566-87A1-79FCFDCC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9B02B-0E20-E958-8A7E-AEEC1EE1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AD715-C174-6B78-17F4-10D6EC398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78F9-57A2-39CF-B29A-9A367F88B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B1C9F-940D-450E-BD5E-E836A4996EE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F574-34BB-8454-F281-AD2383722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B143-6D95-866E-E6CE-AC4A2E24C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6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D273-2383-949F-806D-D751F0513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1542" y="1528337"/>
            <a:ext cx="9635161" cy="163307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PUF FOR HARDWARE SECURITY UPDATE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F9889-2C2E-EC39-2FC1-820173295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977" y="3700681"/>
            <a:ext cx="3717974" cy="1633073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Navabharathi T  (2022504526)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Dharshan R        (2022504517)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Lakshmanan S   (2022504310)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5437" y="269855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3" y="242947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6F840-8897-05F9-BC4F-CF00838E71C1}"/>
              </a:ext>
            </a:extLst>
          </p:cNvPr>
          <p:cNvSpPr txBox="1"/>
          <p:nvPr/>
        </p:nvSpPr>
        <p:spPr>
          <a:xfrm>
            <a:off x="2" y="323917"/>
            <a:ext cx="121919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CAMPUS, ANNA UNIVERSITY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: 2022-2026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A13E2-D80A-648D-703D-559B1F25F2EC}"/>
              </a:ext>
            </a:extLst>
          </p:cNvPr>
          <p:cNvSpPr txBox="1"/>
          <p:nvPr/>
        </p:nvSpPr>
        <p:spPr>
          <a:xfrm>
            <a:off x="6658225" y="3696591"/>
            <a:ext cx="465847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SzPct val="100000"/>
            </a:pP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V. R. Vijaykumar,</a:t>
            </a:r>
          </a:p>
          <a:p>
            <a:pPr algn="just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</a:t>
            </a:r>
          </a:p>
          <a:p>
            <a:pPr algn="just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Engineering,</a:t>
            </a:r>
          </a:p>
          <a:p>
            <a:pPr algn="just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Madras Institute of Technology,</a:t>
            </a:r>
          </a:p>
          <a:p>
            <a:pPr algn="just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 University.</a:t>
            </a:r>
          </a:p>
        </p:txBody>
      </p:sp>
    </p:spTree>
    <p:extLst>
      <p:ext uri="{BB962C8B-B14F-4D97-AF65-F5344CB8AC3E}">
        <p14:creationId xmlns:p14="http://schemas.microsoft.com/office/powerpoint/2010/main" val="389640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349500" y="825824"/>
            <a:ext cx="749300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B0687-CF1D-BACE-09DE-CFDCFB2FC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9A8AD7F8-011E-3E17-1FB2-1E5FC2821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981" y="527670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40F533-01FE-69ED-96E1-B8CC570294B4}"/>
              </a:ext>
            </a:extLst>
          </p:cNvPr>
          <p:cNvSpPr txBox="1"/>
          <p:nvPr/>
        </p:nvSpPr>
        <p:spPr>
          <a:xfrm>
            <a:off x="3431457" y="1495096"/>
            <a:ext cx="6656523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 DIAGRAM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DIAGRAM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IMPLEMENTATION RESULTS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</a:rPr>
              <a:t>FPGA IMPLEMENTATION FLOW &amp; VALIDATION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</a:rPr>
              <a:t>ASIC IMPLEMENTATION FLOW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</a:rPr>
              <a:t>ASIC POST-SYNTHESIS ANALYSIS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33369" y="880534"/>
            <a:ext cx="8525262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685799" y="1993900"/>
            <a:ext cx="10699955" cy="3176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To develop a robust Arbiter PUF using Verilog HDL.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To analyze the uniqueness of the Arbiter PUF by generating responses to multiple challenges and comparing the responses across different PUF instances.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To evaluate various PUF metrices such as Inter-chip variation, Intra-chip variation, uniformity, reliability and bit-aliasing.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To implement the developed Arbiter PUF in  FPGA platform, focusing on validating its functionality.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2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4833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529358"/>
              </p:ext>
            </p:extLst>
          </p:nvPr>
        </p:nvGraphicFramePr>
        <p:xfrm>
          <a:off x="327260" y="1222410"/>
          <a:ext cx="11500945" cy="5514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452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488994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440190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2264497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473812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114689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081560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Hemavathy and</a:t>
                      </a:r>
                    </a:p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S. Kanchana Bhaaskaran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IN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Arbiter PUF—A Review of Design, Composition, and Security Aspects</a:t>
                      </a:r>
                      <a:endParaRPr kumimoji="0" lang="en-I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nl-NL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vol. 11, pp. 33979–33993, 2023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a comprehensive review of Arbiter PUF designs, metrics, and their resilience against ML attacks.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existing PUF architectures are still susceptible to deep learning and side-channel modeling.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  <a:tr h="2205572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Sivappriya Manivannan, Rajat Subhra Chakraborty, Indrajit Chakrabarti, and Jothi Ramalingam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“Practical and Efficient PUF-Based Protocol for Authentication and Key Agreement in IoT”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Embedded Systems Letters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16, no. 2, pp. 118–121, 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49530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lightweight authentication and key agreement protocol using Arbiter PUF, Fuzzy Extractor, and ECDH.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Problem Identified: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systems store large CRP sets or require pairing operations—both unsuitable for IoT.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3384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8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4833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06103"/>
              </p:ext>
            </p:extLst>
          </p:nvPr>
        </p:nvGraphicFramePr>
        <p:xfrm>
          <a:off x="327260" y="1222410"/>
          <a:ext cx="11500945" cy="5434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452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488994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440190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2264497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473812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114689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081560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Jim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Plusquellic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Eirini Eleni Tsiropoulou, and Cyrus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Minwalla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“Privacy-Preserving Authentication Protocols for IoT Devices Using the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SiRF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PUF”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Emerging Topics in Computing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11, no. 4, pp. 918–931,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COBRA and PARCE protocols using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SiRF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PUF that enhance privacy without leaking CRPs.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Problem Identified: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strong PUFs are vulnerable to model-building and response-leakage attacks.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  <a:tr h="2205572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Fadi Farha,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Huansheng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Ning, Karim Ali, Liming Chen, and Christopher Nugent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“SRAM-PUF-Based Entities Authentication Scheme for Resource-Constrained IoT Devices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Internet of Things Journal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8, no. 7, pp. 5904–5914,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49530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lightweight SRAM-PUF authentication scheme suitable for low-power IoT devices.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Problem Identified: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SRAM-PUFs suffer from noise and entropy issues, especially under changing environmental conditions.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3384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07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C12A2-3AE2-DB49-EBEC-6DD61243F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059DC049-BE45-443B-900A-504D95A9E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79" y="1611470"/>
            <a:ext cx="9007102" cy="4294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9075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SCHEMATIC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C12A2-3AE2-DB49-EBEC-6DD61243F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38DF41-74F5-4941-9722-504FCA3FE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647899"/>
            <a:ext cx="11982450" cy="454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3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4EF26-597F-CCB9-5FB7-EDF9DCD6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BD1B7-F9CD-A237-190F-1510A10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510B9-FFD6-BE3C-40B5-D7AF0DB2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D6823-635B-8E69-344B-E79401622925}"/>
              </a:ext>
            </a:extLst>
          </p:cNvPr>
          <p:cNvSpPr txBox="1"/>
          <p:nvPr/>
        </p:nvSpPr>
        <p:spPr>
          <a:xfrm>
            <a:off x="3708401" y="571254"/>
            <a:ext cx="5545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8B362-3B26-FD32-EFFF-90318FEDB38B}"/>
              </a:ext>
            </a:extLst>
          </p:cNvPr>
          <p:cNvSpPr txBox="1"/>
          <p:nvPr/>
        </p:nvSpPr>
        <p:spPr>
          <a:xfrm>
            <a:off x="1116825" y="1870681"/>
            <a:ext cx="1008632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Stability: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Achieved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98.8% response repeatability using UART-based manual verification, ensuring reliable and consistent responses.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Uniqueness: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Recorded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44.26% inter-chip uniqueness using UART-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basedtesting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Vivado’s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placement and routing still cause similar delay paths across FPGAs.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Maintained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stability (98.8%) with improved uniqueness (44.26%) using UART-based manual testing; uniqueness remains limited by FPGA routing optimization.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3BE4167-EB26-A4E1-5BAD-4D2344F88E28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D8481-C98E-A8F5-4713-F80A9DE85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1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4EF26-597F-CCB9-5FB7-EDF9DCD6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BD1B7-F9CD-A237-190F-1510A10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510B9-FFD6-BE3C-40B5-D7AF0DB2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D6823-635B-8E69-344B-E79401622925}"/>
              </a:ext>
            </a:extLst>
          </p:cNvPr>
          <p:cNvSpPr txBox="1"/>
          <p:nvPr/>
        </p:nvSpPr>
        <p:spPr>
          <a:xfrm>
            <a:off x="2138362" y="768910"/>
            <a:ext cx="7915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IMPLEMENTATION RESULTS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8B362-3B26-FD32-EFFF-90318FEDB38B}"/>
              </a:ext>
            </a:extLst>
          </p:cNvPr>
          <p:cNvSpPr txBox="1"/>
          <p:nvPr/>
        </p:nvSpPr>
        <p:spPr>
          <a:xfrm>
            <a:off x="1116825" y="1870681"/>
            <a:ext cx="10086321" cy="3237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the PUF was evaluated based on industry-standard metrics.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Stability: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achieved 98.8% stability, demonstrating high reliability and consistency of the response bits across varying environmental conditions.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inter-chip Hamming distance analysis yielded a uniqueness score of 16.47% (for 8-bit responses), which is below the ideal value of 50%, indicating limited device-specific differentiation among the FPGA devices.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3BE4167-EB26-A4E1-5BAD-4D2344F88E28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D8481-C98E-A8F5-4713-F80A9DE85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492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99409" y="741355"/>
            <a:ext cx="8082791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altLang="en-US" sz="3600" b="1" dirty="0">
                <a:latin typeface="Times New Roman" panose="02020603050405020304" pitchFamily="18" charset="0"/>
              </a:rPr>
              <a:t>FPGA Implementation Flow &amp; Validation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685799" y="1993900"/>
            <a:ext cx="10699955" cy="4099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The design was implemented on an FPGA using the Xilinx </a:t>
            </a:r>
            <a:r>
              <a:rPr lang="en-US" altLang="en-US" sz="2000" dirty="0" err="1">
                <a:latin typeface="Times New Roman" panose="02020603050405020304" pitchFamily="18" charset="0"/>
              </a:rPr>
              <a:t>Vivado</a:t>
            </a:r>
            <a:r>
              <a:rPr lang="en-US" altLang="en-US" sz="2000" dirty="0">
                <a:latin typeface="Times New Roman" panose="02020603050405020304" pitchFamily="18" charset="0"/>
              </a:rPr>
              <a:t> Design Suite, following a standard RTL-to-bitstream methodology.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The flow consisted of RTL design, followed by logic synthesis, and finally place and route (P&amp;R) to generate the device-specific bitstream.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Timing closure was successfully achieved by analyzing and meeting setup and hold time requirements, indicated by a positive Worst Negative Slack (WNS) and zero Total Negative Slack (TNS). Resource utilization was monitored to ensure design efficiency.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Functional validation was conducted on the hardware through manual testing, using a UART interface to send challenges and receive responses from the PUF.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7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99409" y="741355"/>
            <a:ext cx="8082791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altLang="en-US" sz="3200" b="1" dirty="0">
                <a:latin typeface="Times New Roman" panose="02020603050405020304" pitchFamily="18" charset="0"/>
              </a:rPr>
              <a:t>ASIC IMPLEMENTATION FLOW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1349806" y="2217173"/>
            <a:ext cx="10003994" cy="3176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b="1" dirty="0">
                <a:latin typeface="Times New Roman" panose="02020603050405020304" pitchFamily="18" charset="0"/>
              </a:rPr>
              <a:t>SYNTHESIS: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RTL code was synthesized for an ASIC using Cadence Genus. 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synthesis produced a gate-level netlist and an SDC file describing the timing requirements. 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targets the SCL 180 nm technology and includes I/O pad cells from the SCL PDK. 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netlist is now ready for physical design steps such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floorplanning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power planning, and PNR.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6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99409" y="741355"/>
            <a:ext cx="8082791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altLang="en-US" sz="3200" b="1" dirty="0">
                <a:latin typeface="Times New Roman" panose="02020603050405020304" pitchFamily="18" charset="0"/>
              </a:rPr>
              <a:t>ASIC POST-SYNTHESIS ANALYSIS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838200" y="1892636"/>
            <a:ext cx="10515600" cy="867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b="1" dirty="0">
                <a:latin typeface="Times New Roman" panose="02020603050405020304" pitchFamily="18" charset="0"/>
              </a:rPr>
              <a:t>Cell &amp; Path Report (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syn_opt_gates.rpt</a:t>
            </a:r>
            <a:r>
              <a:rPr lang="en-US" altLang="en-US" sz="2000" b="1" dirty="0">
                <a:latin typeface="Times New Roman" panose="02020603050405020304" pitchFamily="18" charset="0"/>
              </a:rPr>
              <a:t>): </a:t>
            </a:r>
            <a:r>
              <a:rPr lang="en-US" altLang="en-US" sz="2000" dirty="0">
                <a:latin typeface="Times New Roman" panose="02020603050405020304" pitchFamily="18" charset="0"/>
              </a:rPr>
              <a:t>Provides a breakdown of standard cell counts, overall logic depth, and a detailed analysis of the critical timing paths in the design.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7F19E4-57AB-4F60-85EF-E5F22C1A5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882189"/>
            <a:ext cx="5348114" cy="33526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D51951-E244-41E1-8D7F-13F70D3A4B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4288" y="2916871"/>
            <a:ext cx="5495526" cy="331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98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99409" y="741355"/>
            <a:ext cx="8082791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altLang="en-US" sz="3200" b="1" dirty="0">
                <a:latin typeface="Times New Roman" panose="02020603050405020304" pitchFamily="18" charset="0"/>
              </a:rPr>
              <a:t>ASIC POST-SYNTHESIS ANALYSIS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1349806" y="1892636"/>
            <a:ext cx="10003994" cy="867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b="1" dirty="0">
                <a:latin typeface="Times New Roman" panose="02020603050405020304" pitchFamily="18" charset="0"/>
              </a:rPr>
              <a:t>Area Report (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area.rpt</a:t>
            </a:r>
            <a:r>
              <a:rPr lang="en-US" altLang="en-US" sz="2000" dirty="0">
                <a:latin typeface="Times New Roman" panose="02020603050405020304" pitchFamily="18" charset="0"/>
              </a:rPr>
              <a:t>): Confirms the total combinational and non-combinational cell area, with a hierarchical breakdown for each module.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BBEEDB-C057-4305-B652-16369173ED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1439" y="2809359"/>
            <a:ext cx="7197428" cy="349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86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99409" y="741355"/>
            <a:ext cx="8082791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altLang="en-US" sz="3200" b="1" dirty="0">
                <a:latin typeface="Times New Roman" panose="02020603050405020304" pitchFamily="18" charset="0"/>
              </a:rPr>
              <a:t>ASIC POST-SYNTHESIS ANALYSIS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1419604" y="2090742"/>
            <a:ext cx="4521200" cy="2252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b="1" dirty="0">
                <a:latin typeface="Times New Roman" panose="02020603050405020304" pitchFamily="18" charset="0"/>
              </a:rPr>
              <a:t>Quality of Result Report (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qor.rpt</a:t>
            </a:r>
            <a:r>
              <a:rPr lang="en-US" altLang="en-US" sz="2000" dirty="0">
                <a:latin typeface="Times New Roman" panose="02020603050405020304" pitchFamily="18" charset="0"/>
              </a:rPr>
              <a:t>): Indicates a clean synthesis run with no unconstrained paths, acceptable WNS/TNS, and no violations for maximum transition or maximum fanout design rules.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58D540-55A0-4753-A148-EF3DAB82F9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1198" y="2090742"/>
            <a:ext cx="4020982" cy="381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41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98123-E03A-701F-6E81-AF0B696BC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98506-7477-71B9-5CBD-8A8D680F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75A4C-956B-F177-29C7-FA8CD857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1CB1E3-F4BD-163A-4170-EA75C7BF1AC7}"/>
              </a:ext>
            </a:extLst>
          </p:cNvPr>
          <p:cNvSpPr txBox="1"/>
          <p:nvPr/>
        </p:nvSpPr>
        <p:spPr>
          <a:xfrm>
            <a:off x="4460046" y="365126"/>
            <a:ext cx="36779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5BF4579-69D4-0E5E-8ED9-FBA1D2771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9037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floorplanning or routing constraints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Vivado to try to preserve physical delay differences.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alternative PUF architectures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XOR Arbiter PUF, RO-PUF) or different FPGA families for improved uniqueness.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testing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(temperature/voltage) to further evaluate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demo and metric comparison table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next review.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A4058-2CA6-62D2-B594-B17773AEB707}"/>
              </a:ext>
            </a:extLst>
          </p:cNvPr>
          <p:cNvSpPr txBox="1"/>
          <p:nvPr/>
        </p:nvSpPr>
        <p:spPr>
          <a:xfrm>
            <a:off x="983655" y="1243096"/>
            <a:ext cx="996882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8-Bit PUF Analysis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17CBDDFF-031E-F711-2FBB-C3CE85CB016C}"/>
              </a:ext>
            </a:extLst>
          </p:cNvPr>
          <p:cNvSpPr/>
          <p:nvPr/>
        </p:nvSpPr>
        <p:spPr>
          <a:xfrm>
            <a:off x="10068560" y="485659"/>
            <a:ext cx="1523808" cy="769442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29E40F-065C-1949-76CC-1B62D7918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6"/>
            <a:ext cx="827949" cy="821778"/>
          </a:xfrm>
          <a:prstGeom prst="rect">
            <a:avLst/>
          </a:prstGeom>
        </p:spPr>
      </p:pic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1DABDA63-F89F-4A82-9C15-010C207CF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457215"/>
              </p:ext>
            </p:extLst>
          </p:nvPr>
        </p:nvGraphicFramePr>
        <p:xfrm>
          <a:off x="983656" y="1820177"/>
          <a:ext cx="10224689" cy="433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937">
                  <a:extLst>
                    <a:ext uri="{9D8B030D-6E8A-4147-A177-3AD203B41FA5}">
                      <a16:colId xmlns:a16="http://schemas.microsoft.com/office/drawing/2014/main" val="1735040481"/>
                    </a:ext>
                  </a:extLst>
                </a:gridCol>
                <a:gridCol w="1971490">
                  <a:extLst>
                    <a:ext uri="{9D8B030D-6E8A-4147-A177-3AD203B41FA5}">
                      <a16:colId xmlns:a16="http://schemas.microsoft.com/office/drawing/2014/main" val="639595610"/>
                    </a:ext>
                  </a:extLst>
                </a:gridCol>
                <a:gridCol w="5431262">
                  <a:extLst>
                    <a:ext uri="{9D8B030D-6E8A-4147-A177-3AD203B41FA5}">
                      <a16:colId xmlns:a16="http://schemas.microsoft.com/office/drawing/2014/main" val="947625141"/>
                    </a:ext>
                  </a:extLst>
                </a:gridCol>
              </a:tblGrid>
              <a:tr h="385483">
                <a:tc>
                  <a:txBody>
                    <a:bodyPr/>
                    <a:lstStyle/>
                    <a:p>
                      <a:r>
                        <a:rPr lang="en-IN" dirty="0"/>
                        <a:t>Metric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Calculation / 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430180"/>
                  </a:ext>
                </a:extLst>
              </a:tr>
              <a:tr h="534627">
                <a:tc>
                  <a:txBody>
                    <a:bodyPr/>
                    <a:lstStyle/>
                    <a:p>
                      <a:r>
                        <a:rPr lang="en-IN" dirty="0"/>
                        <a:t>Total Challenges / Bits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Based on an 8-bit challenge space (</a:t>
                      </a:r>
                      <a:r>
                        <a:rPr lang="en-IN" b="0" dirty="0"/>
                        <a:t>2⁸</a:t>
                      </a:r>
                      <a:r>
                        <a:rPr lang="en-US" dirty="0"/>
                        <a:t>−1)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169005"/>
                  </a:ext>
                </a:extLst>
              </a:tr>
              <a:tr h="592327">
                <a:tc>
                  <a:txBody>
                    <a:bodyPr/>
                    <a:lstStyle/>
                    <a:p>
                      <a:r>
                        <a:rPr lang="en-IN" dirty="0"/>
                        <a:t>Ones in Response FPGA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118 (46.27%)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Nearly balanced, indicating good randomness                                     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31466"/>
                  </a:ext>
                </a:extLst>
              </a:tr>
              <a:tr h="534627">
                <a:tc>
                  <a:txBody>
                    <a:bodyPr/>
                    <a:lstStyle/>
                    <a:p>
                      <a:r>
                        <a:rPr lang="en-IN" dirty="0"/>
                        <a:t>Ones in Response FPGA 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114 (44.71%)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Nearly balanced, indicating good randomness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190836"/>
                  </a:ext>
                </a:extLst>
              </a:tr>
              <a:tr h="534627">
                <a:tc>
                  <a:txBody>
                    <a:bodyPr/>
                    <a:lstStyle/>
                    <a:p>
                      <a:r>
                        <a:rPr lang="en-IN" dirty="0"/>
                        <a:t>Flipped Bits (Inter-Chip HD)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number of bits that differ between two FPGAs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05466"/>
                  </a:ext>
                </a:extLst>
              </a:tr>
              <a:tr h="763752">
                <a:tc>
                  <a:txBody>
                    <a:bodyPr/>
                    <a:lstStyle/>
                    <a:p>
                      <a:r>
                        <a:rPr lang="en-IN" dirty="0"/>
                        <a:t> Uniqueness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(42/255)×100  Low result (ideal ≈ 50%)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77430"/>
                  </a:ext>
                </a:extLst>
              </a:tr>
              <a:tr h="992878">
                <a:tc>
                  <a:txBody>
                    <a:bodyPr/>
                    <a:lstStyle/>
                    <a:p>
                      <a:r>
                        <a:rPr lang="en-IN" dirty="0"/>
                        <a:t>Stability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High reliability, suitable for security applications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68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640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98123-E03A-701F-6E81-AF0B696BC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98506-7477-71B9-5CBD-8A8D680F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75A4C-956B-F177-29C7-FA8CD857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1CB1E3-F4BD-163A-4170-EA75C7BF1AC7}"/>
              </a:ext>
            </a:extLst>
          </p:cNvPr>
          <p:cNvSpPr txBox="1"/>
          <p:nvPr/>
        </p:nvSpPr>
        <p:spPr>
          <a:xfrm>
            <a:off x="4460046" y="365126"/>
            <a:ext cx="36779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5BF4579-69D4-0E5E-8ED9-FBA1D2771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9037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floorplanning or routing constraints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Vivado to try to preserve physical delay differences.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alternative PUF architectures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XOR Arbiter PUF, RO-PUF) or different FPGA families for improved uniqueness.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testing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(temperature/voltage) to further evaluate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demo and metric comparison table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next review.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A4058-2CA6-62D2-B594-B17773AEB707}"/>
              </a:ext>
            </a:extLst>
          </p:cNvPr>
          <p:cNvSpPr txBox="1"/>
          <p:nvPr/>
        </p:nvSpPr>
        <p:spPr>
          <a:xfrm>
            <a:off x="983655" y="1243096"/>
            <a:ext cx="996882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16-Bit PUF Analysis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17CBDDFF-031E-F711-2FBB-C3CE85CB016C}"/>
              </a:ext>
            </a:extLst>
          </p:cNvPr>
          <p:cNvSpPr/>
          <p:nvPr/>
        </p:nvSpPr>
        <p:spPr>
          <a:xfrm>
            <a:off x="10068560" y="485659"/>
            <a:ext cx="1523808" cy="769442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29E40F-065C-1949-76CC-1B62D7918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6"/>
            <a:ext cx="827949" cy="821778"/>
          </a:xfrm>
          <a:prstGeom prst="rect">
            <a:avLst/>
          </a:prstGeom>
        </p:spPr>
      </p:pic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1DABDA63-F89F-4A82-9C15-010C207CF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151209"/>
              </p:ext>
            </p:extLst>
          </p:nvPr>
        </p:nvGraphicFramePr>
        <p:xfrm>
          <a:off x="983656" y="1820177"/>
          <a:ext cx="10224689" cy="4419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937">
                  <a:extLst>
                    <a:ext uri="{9D8B030D-6E8A-4147-A177-3AD203B41FA5}">
                      <a16:colId xmlns:a16="http://schemas.microsoft.com/office/drawing/2014/main" val="1735040481"/>
                    </a:ext>
                  </a:extLst>
                </a:gridCol>
                <a:gridCol w="1971490">
                  <a:extLst>
                    <a:ext uri="{9D8B030D-6E8A-4147-A177-3AD203B41FA5}">
                      <a16:colId xmlns:a16="http://schemas.microsoft.com/office/drawing/2014/main" val="639595610"/>
                    </a:ext>
                  </a:extLst>
                </a:gridCol>
                <a:gridCol w="5431262">
                  <a:extLst>
                    <a:ext uri="{9D8B030D-6E8A-4147-A177-3AD203B41FA5}">
                      <a16:colId xmlns:a16="http://schemas.microsoft.com/office/drawing/2014/main" val="947625141"/>
                    </a:ext>
                  </a:extLst>
                </a:gridCol>
              </a:tblGrid>
              <a:tr h="383205">
                <a:tc>
                  <a:txBody>
                    <a:bodyPr/>
                    <a:lstStyle/>
                    <a:p>
                      <a:r>
                        <a:rPr lang="en-IN" dirty="0"/>
                        <a:t>Metric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Calculation / 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430180"/>
                  </a:ext>
                </a:extLst>
              </a:tr>
              <a:tr h="531468">
                <a:tc>
                  <a:txBody>
                    <a:bodyPr/>
                    <a:lstStyle/>
                    <a:p>
                      <a:r>
                        <a:rPr lang="en-IN" dirty="0"/>
                        <a:t>Total Challenges / Bits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65,536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Based on a 16-bit challenge space (</a:t>
                      </a:r>
                      <a:r>
                        <a:rPr lang="en-IN" b="0" dirty="0"/>
                        <a:t>2¹⁶</a:t>
                      </a:r>
                      <a:r>
                        <a:rPr lang="en-US" b="0" dirty="0"/>
                        <a:t>) 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169005"/>
                  </a:ext>
                </a:extLst>
              </a:tr>
              <a:tr h="588827">
                <a:tc>
                  <a:txBody>
                    <a:bodyPr/>
                    <a:lstStyle/>
                    <a:p>
                      <a:r>
                        <a:rPr lang="en-IN" dirty="0"/>
                        <a:t>Ones in Response FPGA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32,437 (49.50%)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Excellent balance, close to the ideal 50%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31466"/>
                  </a:ext>
                </a:extLst>
              </a:tr>
              <a:tr h="531468">
                <a:tc>
                  <a:txBody>
                    <a:bodyPr/>
                    <a:lstStyle/>
                    <a:p>
                      <a:r>
                        <a:rPr lang="en-IN" dirty="0"/>
                        <a:t>Ones in Response FPGA 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32,628 (49.79%)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Excellent balance, close to the ideal 50%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190836"/>
                  </a:ext>
                </a:extLst>
              </a:tr>
              <a:tr h="636297">
                <a:tc>
                  <a:txBody>
                    <a:bodyPr/>
                    <a:lstStyle/>
                    <a:p>
                      <a:r>
                        <a:rPr lang="en-IN" dirty="0"/>
                        <a:t>Flipped Bits (Inter-Chip HD)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28,996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number of bits differing between FPGA 1 and FPGA 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05466"/>
                  </a:ext>
                </a:extLst>
              </a:tr>
              <a:tr h="757364">
                <a:tc>
                  <a:txBody>
                    <a:bodyPr/>
                    <a:lstStyle/>
                    <a:p>
                      <a:r>
                        <a:rPr lang="en-IN" dirty="0"/>
                        <a:t> Uniqueness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44.26%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result, approaching the ideal 50%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77430"/>
                  </a:ext>
                </a:extLst>
              </a:tr>
              <a:tr h="987011">
                <a:tc>
                  <a:txBody>
                    <a:bodyPr/>
                    <a:lstStyle/>
                    <a:p>
                      <a:r>
                        <a:rPr lang="en-IN" dirty="0"/>
                        <a:t>Stability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reliability, suitable for security applications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68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091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888" y="1597793"/>
            <a:ext cx="10862912" cy="467542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Areno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,“Correlation-based robust authentication(cobra) using helper data only,” Cryptography, vol. 2, no. 3, 2018, Art. no. 21. [Online]. Available: https://www.mdpi.com/2410--387X/2/3/21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D.Heeger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“Analysis of IoT authentication over LoRa,” in Proc. IEEE 16th Int. Conf.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Sensor Syst., 2020, pp. 458–465.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“Shift register,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reconvergent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-fanout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PUF implementation on an FPGA,” Cryptography, vol. 6, no. 4, 2022, Art. no. 59. [Online]. Available: https://www.mdpi.com/2410--387X/6/4/59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Rührmair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“PUF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attacks on simulated and silicon data,” IEEE Trans. Inf. Forensics Security, vol. 8, no. 11, pp. 1876–1891, Nov. 2013.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T. Becker, “On the pitfalls of using Arbiter-PUFs as building blocks,” IEEE Trans.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.-Aided Design Integer. Circuits Syst., vol. 34, no. 8, pp. 1295–1307, Aug. 2015.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26334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27" y="207922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26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Y. Wen and Y. Lao, “Enhancing PUF reliability by machine learning,” in Proc. IEEE Int. Symp. Circuits Syst., 2017, pp. 1–4.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H.Awano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T.Iizuka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M.Ikeda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“PUF Net :A deep neural network based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attack for physically unclonable function,” in Proc. IEEE Int. Symp. Circuits Syst., 2019, pp. 1–4.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Y. Xu, Y. Lao, W. Liu, Z. Zhang, X. You, and C. Zhang, “Mathematical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analysis of strong physical unclonable functions,” IEEE Trans.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Comput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.-Aided Design Integer. Circuits Syst., vol. 39, no. 12, pp. 4426–4438, Dec. 2020.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J. Delvaux, “Machine-learning attacks on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PolyPUFs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OB-PUFs, RPUFs, LHS-PUFs and PUF-FSMs,”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IEEETrans.Inf.Forensics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Security, vol. 14, no. 8, pp. 2043–2058, Aug. 2019.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Y. Lao and K. K.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Parhi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“Statistical analysis of MUX-based physical unclonablefunctions,”IEEETrans.Comput.-AidedDesignIntegr.Circuits Syst., vol. 33, no. 5, pp. 649–662, May 2014.</a:t>
            </a:r>
          </a:p>
          <a:p>
            <a:pPr marL="0" indent="0" algn="just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9322" y="42697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824" y="373160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67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F96A-A9EC-483A-238D-F38DBD8F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05/11/2025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THIRD </a:t>
            </a:r>
            <a:r>
              <a:rPr lang="en-US" dirty="0"/>
              <a:t>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8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2044</TotalTime>
  <Words>1811</Words>
  <Application>Microsoft Office PowerPoint</Application>
  <PresentationFormat>Widescreen</PresentationFormat>
  <Paragraphs>224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DESIGN AND DEVELOPMENT OF PUF FOR HARDWARE SECURITY UPDATE</vt:lpstr>
      <vt:lpstr>PowerPoint Presentation</vt:lpstr>
      <vt:lpstr>PowerPoint Presentation</vt:lpstr>
      <vt:lpstr>LITERATURE SURVEY</vt:lpstr>
      <vt:lpstr>LITERATURE SURVEY</vt:lpstr>
      <vt:lpstr>BLOCK  DIAGRAM</vt:lpstr>
      <vt:lpstr> SCHEMATIC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 REFERENCES(Cntd.)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adaptive beam prediction for V2V Communication</dc:title>
  <dc:creator>Microsoft Office User</dc:creator>
  <cp:lastModifiedBy>NAVABHARATHI T</cp:lastModifiedBy>
  <cp:revision>80</cp:revision>
  <dcterms:created xsi:type="dcterms:W3CDTF">2024-08-14T09:59:13Z</dcterms:created>
  <dcterms:modified xsi:type="dcterms:W3CDTF">2025-11-05T00:55:41Z</dcterms:modified>
</cp:coreProperties>
</file>