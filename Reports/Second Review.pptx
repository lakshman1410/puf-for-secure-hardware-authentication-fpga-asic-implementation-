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5" Type="http://schemas.openxmlformats.org/officeDocument/2006/relationships/custom-properties" Target="docProps/custom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5"/>
  </p:notesMasterIdLst>
  <p:sldIdLst>
    <p:sldId id="261" r:id="rId5"/>
    <p:sldId id="257" r:id="rId6"/>
    <p:sldId id="263" r:id="rId7"/>
    <p:sldId id="290" r:id="rId8"/>
    <p:sldId id="288" r:id="rId9"/>
    <p:sldId id="279" r:id="rId10"/>
    <p:sldId id="297" r:id="rId11"/>
    <p:sldId id="292" r:id="rId12"/>
    <p:sldId id="293" r:id="rId13"/>
    <p:sldId id="294" r:id="rId14"/>
    <p:sldId id="300" r:id="rId15"/>
    <p:sldId id="301" r:id="rId16"/>
    <p:sldId id="302" r:id="rId17"/>
    <p:sldId id="298" r:id="rId18"/>
    <p:sldId id="299" r:id="rId19"/>
    <p:sldId id="295" r:id="rId20"/>
    <p:sldId id="260" r:id="rId21"/>
    <p:sldId id="281" r:id="rId22"/>
    <p:sldId id="282" r:id="rId23"/>
    <p:sldId id="259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71"/>
    <p:restoredTop sz="94807"/>
  </p:normalViewPr>
  <p:slideViewPr>
    <p:cSldViewPr snapToGrid="0">
      <p:cViewPr varScale="1">
        <p:scale>
          <a:sx n="78" d="100"/>
          <a:sy n="78" d="100"/>
        </p:scale>
        <p:origin x="974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 /><Relationship Id="rId13" Type="http://schemas.openxmlformats.org/officeDocument/2006/relationships/slide" Target="slides/slide9.xml" /><Relationship Id="rId18" Type="http://schemas.openxmlformats.org/officeDocument/2006/relationships/slide" Target="slides/slide14.xml" /><Relationship Id="rId26" Type="http://schemas.openxmlformats.org/officeDocument/2006/relationships/presProps" Target="presProps.xml" /><Relationship Id="rId3" Type="http://schemas.openxmlformats.org/officeDocument/2006/relationships/customXml" Target="../customXml/item3.xml" /><Relationship Id="rId21" Type="http://schemas.openxmlformats.org/officeDocument/2006/relationships/slide" Target="slides/slide17.xml" /><Relationship Id="rId7" Type="http://schemas.openxmlformats.org/officeDocument/2006/relationships/slide" Target="slides/slide3.xml" /><Relationship Id="rId12" Type="http://schemas.openxmlformats.org/officeDocument/2006/relationships/slide" Target="slides/slide8.xml" /><Relationship Id="rId17" Type="http://schemas.openxmlformats.org/officeDocument/2006/relationships/slide" Target="slides/slide13.xml" /><Relationship Id="rId25" Type="http://schemas.openxmlformats.org/officeDocument/2006/relationships/notesMaster" Target="notesMasters/notesMaster1.xml" /><Relationship Id="rId2" Type="http://schemas.openxmlformats.org/officeDocument/2006/relationships/customXml" Target="../customXml/item2.xml" /><Relationship Id="rId16" Type="http://schemas.openxmlformats.org/officeDocument/2006/relationships/slide" Target="slides/slide12.xml" /><Relationship Id="rId20" Type="http://schemas.openxmlformats.org/officeDocument/2006/relationships/slide" Target="slides/slide16.xml" /><Relationship Id="rId29" Type="http://schemas.openxmlformats.org/officeDocument/2006/relationships/tableStyles" Target="tableStyles.xml" /><Relationship Id="rId1" Type="http://schemas.openxmlformats.org/officeDocument/2006/relationships/customXml" Target="../customXml/item1.xml" /><Relationship Id="rId6" Type="http://schemas.openxmlformats.org/officeDocument/2006/relationships/slide" Target="slides/slide2.xml" /><Relationship Id="rId11" Type="http://schemas.openxmlformats.org/officeDocument/2006/relationships/slide" Target="slides/slide7.xml" /><Relationship Id="rId24" Type="http://schemas.openxmlformats.org/officeDocument/2006/relationships/slide" Target="slides/slide20.xml" /><Relationship Id="rId5" Type="http://schemas.openxmlformats.org/officeDocument/2006/relationships/slide" Target="slides/slide1.xml" /><Relationship Id="rId15" Type="http://schemas.openxmlformats.org/officeDocument/2006/relationships/slide" Target="slides/slide11.xml" /><Relationship Id="rId23" Type="http://schemas.openxmlformats.org/officeDocument/2006/relationships/slide" Target="slides/slide19.xml" /><Relationship Id="rId28" Type="http://schemas.openxmlformats.org/officeDocument/2006/relationships/theme" Target="theme/theme1.xml" /><Relationship Id="rId10" Type="http://schemas.openxmlformats.org/officeDocument/2006/relationships/slide" Target="slides/slide6.xml" /><Relationship Id="rId19" Type="http://schemas.openxmlformats.org/officeDocument/2006/relationships/slide" Target="slides/slide15.xml" /><Relationship Id="rId4" Type="http://schemas.openxmlformats.org/officeDocument/2006/relationships/slideMaster" Target="slideMasters/slideMaster1.xml" /><Relationship Id="rId9" Type="http://schemas.openxmlformats.org/officeDocument/2006/relationships/slide" Target="slides/slide5.xml" /><Relationship Id="rId14" Type="http://schemas.openxmlformats.org/officeDocument/2006/relationships/slide" Target="slides/slide10.xml" /><Relationship Id="rId22" Type="http://schemas.openxmlformats.org/officeDocument/2006/relationships/slide" Target="slides/slide18.xml" /><Relationship Id="rId27" Type="http://schemas.openxmlformats.org/officeDocument/2006/relationships/viewProps" Target="view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86681D-7503-4C80-A3BE-FFF690FE564A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3E86CB-CBCB-4DA2-9577-1F8468041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4822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3B340-7ED3-EFB8-A275-1E952B8377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C088C8-2CC6-6F89-C178-9430B345E6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A44163-56AA-3594-2F32-3659240D5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9D061-A14E-46CE-9FB6-0E49DF4B7BA0}" type="datetime1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08ABB0-D31F-AB31-91EA-029A7164F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ZEROTH REVIEW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368945-5910-C5E7-E57F-7C603CAC5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3488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1131B-772A-512E-732E-F631288D8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4D00E1-0080-552C-E780-89F1ADF40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C85DD0-0C27-6863-7DB3-255B5473F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520E1-BB5E-422A-86E5-3E31004346ED}" type="datetime1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E0CA44-7710-58FC-AB67-7100A0AE1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ZEROTH REVIEW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67DAC2-6F3B-6D71-B9AD-21D5761A5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9067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5F2F6-3E88-8451-BD41-BBF788B56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743E50-E408-7797-F89C-E20419CEE8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519DAF-D4A9-81A5-5E0B-D9CE1A3F8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B425F-3DB9-4774-86E8-572ECFA137AB}" type="datetime1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41734B-D908-EBB0-16D8-42FFD94B1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ZEROTH REVIEW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277A44-DC1C-A7EC-4B74-7F8A26095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662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0E1E6-0582-CE75-E5D1-5943CA9C5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E5B96A-1C66-70D2-D8B0-9405C9A0E9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F4E488-0DD1-C197-6750-A7B38E8D31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134A54-344C-3517-0A05-0936A6C21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6677A-1FA7-4ACA-B091-BD1E8791D5A7}" type="datetime1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D3D402-BBFC-BF5D-3C1E-ED2D4A591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ZEROTH REVIEW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EF903F-3FDE-495E-78E0-7FC95B942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50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B3912-6E6F-8912-9861-4520867C3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E15643-6370-5FFA-2C6D-7ACF4C57FD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02CF07-4D19-2340-7822-757A77F1F2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31555E-F458-F946-22B7-E4A04A619B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51E1E5-1674-0A63-4CE2-A06289D21E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278EC2-4AAF-5A68-6B0D-DB6DB2E60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2B824-4714-4129-8AF6-403A74F7C102}" type="datetime1">
              <a:rPr lang="en-US" smtClean="0"/>
              <a:t>10/10/2025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5FE90B-1F5E-28A1-2E18-AC5006487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ZEROTH REVIEW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6E1A41-8BCF-7114-9090-78DBF24F3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087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1B9A1-E543-9F76-88AF-F67CD5FFA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B6D779-5DE9-3042-8548-83336B1DB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9C4C4-D661-423B-A144-986ED2214CAA}" type="datetime1">
              <a:rPr lang="en-US" smtClean="0"/>
              <a:t>10/10/2025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3B6602-5A6A-7329-8112-8F74E787B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ZEROTH REVIEW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938D7F-01BC-4A51-77FC-B6882C4BF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100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E6B6FD-AF85-CFF1-390C-E4A09943A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500EA-DB37-425A-B3EE-A1FFBF594214}" type="datetime1">
              <a:rPr lang="en-US" smtClean="0"/>
              <a:t>10/10/2025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96C8A6-F329-9E22-96C5-DCDB930EA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ZEROTH REVIEW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967A9D-CD44-DBC9-EC9C-D91550789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600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B3752-CCA2-3892-2C41-C28BDC674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81347-4D92-9ABF-1926-3A418BD2A5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B1061D-7170-656D-6F2F-58C5181501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2E06B0-C9DD-A689-C2EA-40AEB4A0A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1C0DF-A739-4675-9F5D-EDDC57D34DDC}" type="datetime1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5FA4F1-23B7-920C-F295-F366A43E7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ZEROTH REVIEW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F856CA-B708-A49C-4F88-CB8C32C02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3669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75300-4F14-2D75-7E90-8017E9FA5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D2A702-B311-A33B-F583-D4818BC542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B7CCA5-BA08-263C-8141-E32B7EA2C8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A73656-9453-5C13-508D-B6B5099BC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57C97-3617-4A7F-9AB2-A12B17973EE9}" type="datetime1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BF560E-4B9D-EEAB-F7AF-4FC2FA19B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ZEROTH REVIEW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5EB3EC-EF31-1C0D-B03B-9200173DB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525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C67F9-D924-1CB9-BFD0-2686604AA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007C56-F0CF-C8FB-1D77-A26756C339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75CA9-B1FF-45C6-0BB7-638502288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33EA0-0EA7-4052-8FEF-378493996435}" type="datetime1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DFAAE7-4AFC-31E0-2604-6F3445BA0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ZEROTH REVIEW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2FCE9-CA44-0DD1-853F-7590D3692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5338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46FD15-E4FC-10D0-230B-BB440214ED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AABD07-6CA9-2943-77F7-62F0CDB023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546E24-F508-422C-1155-764686D2C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BE3CF-4E09-4AF8-9889-0F5A8738242A}" type="datetime1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44DAF3-E067-B45E-52E2-60F5ECCCA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ZEROTH REVIEW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835C18-2ACB-8566-87A1-79FCFDCC1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1489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F9B02B-0E20-E958-8A7E-AEEC1EE1E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8AD715-C174-6B78-17F4-10D6EC398B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C078F9-57A2-39CF-B29A-9A367F88B9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2B1C9F-940D-450E-BD5E-E836A4996EE0}" type="datetime1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01F574-34BB-8454-F281-AD23837223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ZEROTH REVIEW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8DB143-6D95-866E-E6CE-AC4A2E24C7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ECA96C-9B8F-B941-9AF0-02B5F35F8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0679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2.jpeg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2.jpeg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2.jpeg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2.jpeg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3.png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Relationship Id="rId5" Type="http://schemas.openxmlformats.org/officeDocument/2006/relationships/image" Target="../media/image4.png" /><Relationship Id="rId4" Type="http://schemas.openxmlformats.org/officeDocument/2006/relationships/image" Target="../media/image2.jpeg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Relationship Id="rId5" Type="http://schemas.openxmlformats.org/officeDocument/2006/relationships/image" Target="../media/image5.png" /><Relationship Id="rId4" Type="http://schemas.openxmlformats.org/officeDocument/2006/relationships/image" Target="../media/image2.jpeg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3.png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3.png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7.xml" /><Relationship Id="rId4" Type="http://schemas.openxmlformats.org/officeDocument/2006/relationships/hyperlink" Target="https://ur.wikipedia.org/wiki/%D8%AC%D8%A7%D9%85%D8%B9%DB%81_%D8%A7%D9%86%D8%A7" TargetMode="External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7.xml" /><Relationship Id="rId5" Type="http://schemas.openxmlformats.org/officeDocument/2006/relationships/image" Target="../media/image6.png" /><Relationship Id="rId4" Type="http://schemas.openxmlformats.org/officeDocument/2006/relationships/hyperlink" Target="https://ur.wikipedia.org/wiki/%D8%AC%D8%A7%D9%85%D8%B9%DB%81_%D8%A7%D9%86%D8%A7" TargetMode="External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7.xml" /><Relationship Id="rId5" Type="http://schemas.openxmlformats.org/officeDocument/2006/relationships/image" Target="../media/image7.png" /><Relationship Id="rId4" Type="http://schemas.openxmlformats.org/officeDocument/2006/relationships/hyperlink" Target="https://ur.wikipedia.org/wiki/%D8%AC%D8%A7%D9%85%D8%B9%DB%81_%D8%A7%D9%86%D8%A7" TargetMode="External" 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7.xml" /><Relationship Id="rId5" Type="http://schemas.openxmlformats.org/officeDocument/2006/relationships/image" Target="../media/image8.png" /><Relationship Id="rId4" Type="http://schemas.openxmlformats.org/officeDocument/2006/relationships/hyperlink" Target="https://ur.wikipedia.org/wiki/%D8%AC%D8%A7%D9%85%D8%B9%DB%81_%D8%A7%D9%86%D8%A7" TargetMode="External" 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10.png" /><Relationship Id="rId5" Type="http://schemas.openxmlformats.org/officeDocument/2006/relationships/image" Target="../media/image9.png" /><Relationship Id="rId4" Type="http://schemas.openxmlformats.org/officeDocument/2006/relationships/hyperlink" Target="https://ur.wikipedia.org/wiki/%D8%AC%D8%A7%D9%85%D8%B9%DB%81_%D8%A7%D9%86%D8%A7" TargetMode="External" 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12.png" /><Relationship Id="rId5" Type="http://schemas.openxmlformats.org/officeDocument/2006/relationships/image" Target="../media/image11.png" /><Relationship Id="rId4" Type="http://schemas.openxmlformats.org/officeDocument/2006/relationships/hyperlink" Target="https://ur.wikipedia.org/wiki/%D8%AC%D8%A7%D9%85%D8%B9%DB%81_%D8%A7%D9%86%D8%A7" TargetMode="External" 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7.xml" /><Relationship Id="rId4" Type="http://schemas.openxmlformats.org/officeDocument/2006/relationships/hyperlink" Target="https://ur.wikipedia.org/wiki/%D8%AC%D8%A7%D9%85%D8%B9%DB%81_%D8%A7%D9%86%D8%A7" TargetMode="External" 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2.jpeg" 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2.jpeg" 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2.jpeg" 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0D273-2383-949F-806D-D751F05136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1542" y="1528337"/>
            <a:ext cx="9635161" cy="163307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DEVELOPMENT OF PUF FOR HARDWARE SECURITY UPDATE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1F9889-2C2E-EC39-2FC1-820173295E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1977" y="3700681"/>
            <a:ext cx="3717974" cy="1633073"/>
          </a:xfrm>
        </p:spPr>
        <p:txBody>
          <a:bodyPr>
            <a:normAutofit/>
          </a:bodyPr>
          <a:lstStyle/>
          <a:p>
            <a:pPr algn="just">
              <a:lnSpc>
                <a:spcPct val="110000"/>
              </a:lnSpc>
              <a:spcBef>
                <a:spcPts val="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Navabharathi T  (2022504526)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Dharshan R        (2022504517)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Lakshmanan S   (2022504310)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2B2B49-E6C8-0DD6-3778-340B5FD59A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35437" y="269855"/>
            <a:ext cx="1066540" cy="1058591"/>
          </a:xfrm>
          <a:prstGeom prst="rect">
            <a:avLst/>
          </a:prstGeom>
        </p:spPr>
      </p:pic>
      <p:pic>
        <p:nvPicPr>
          <p:cNvPr id="6" name="Picture 7">
            <a:extLst>
              <a:ext uri="{FF2B5EF4-FFF2-40B4-BE49-F238E27FC236}">
                <a16:creationId xmlns:a16="http://schemas.microsoft.com/office/drawing/2014/main" id="{7F31E10F-95F0-7A07-CA73-57D13D23ED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7713" y="242947"/>
            <a:ext cx="1638850" cy="111240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326F840-8897-05F9-BC4F-CF00838E71C1}"/>
              </a:ext>
            </a:extLst>
          </p:cNvPr>
          <p:cNvSpPr txBox="1"/>
          <p:nvPr/>
        </p:nvSpPr>
        <p:spPr>
          <a:xfrm>
            <a:off x="2" y="323917"/>
            <a:ext cx="1219199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ELECTRONICS ENGINEERING</a:t>
            </a:r>
          </a:p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MIT CAMPUS, ANNA UNIVERSITY</a:t>
            </a:r>
          </a:p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: 2022-2026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8A13E2-D80A-648D-703D-559B1F25F2EC}"/>
              </a:ext>
            </a:extLst>
          </p:cNvPr>
          <p:cNvSpPr txBox="1"/>
          <p:nvPr/>
        </p:nvSpPr>
        <p:spPr>
          <a:xfrm>
            <a:off x="6658225" y="3696591"/>
            <a:ext cx="4658478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SzPct val="100000"/>
            </a:pPr>
            <a:r>
              <a:rPr lang="en-US" altLang="en-US" sz="2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Guided by</a:t>
            </a:r>
            <a:r>
              <a:rPr lang="en-US" alt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buSzPct val="100000"/>
            </a:pPr>
            <a:r>
              <a:rPr lang="en-US" alt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V. R. Vijaykumar,</a:t>
            </a:r>
          </a:p>
          <a:p>
            <a:pPr algn="just">
              <a:buSzPct val="100000"/>
            </a:pPr>
            <a:r>
              <a:rPr lang="en-US" alt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Professor,</a:t>
            </a:r>
          </a:p>
          <a:p>
            <a:pPr algn="just">
              <a:buSzPct val="100000"/>
            </a:pPr>
            <a:r>
              <a:rPr lang="en-US" alt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Electronics Engineering,</a:t>
            </a:r>
          </a:p>
          <a:p>
            <a:pPr algn="just">
              <a:buSzPct val="100000"/>
            </a:pPr>
            <a:r>
              <a:rPr lang="en-US" alt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Madras Institute of Technology,</a:t>
            </a:r>
          </a:p>
          <a:p>
            <a:pPr algn="just">
              <a:buSzPct val="100000"/>
            </a:pPr>
            <a:r>
              <a:rPr lang="en-US" alt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Anna University.</a:t>
            </a:r>
          </a:p>
        </p:txBody>
      </p:sp>
    </p:spTree>
    <p:extLst>
      <p:ext uri="{BB962C8B-B14F-4D97-AF65-F5344CB8AC3E}">
        <p14:creationId xmlns:p14="http://schemas.microsoft.com/office/powerpoint/2010/main" val="38964069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2349500" y="982134"/>
            <a:ext cx="7493000" cy="512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00"/>
              </a:lnSpc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EDB0687-CF1D-BACE-09DE-CFDCFB2FC5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09600" y="527670"/>
            <a:ext cx="1117600" cy="110927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10/10/2025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SECOND REVIEW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2</a:t>
            </a:fld>
            <a:endParaRPr lang="en-US"/>
          </a:p>
        </p:txBody>
      </p:sp>
      <p:pic>
        <p:nvPicPr>
          <p:cNvPr id="10" name="Picture 7">
            <a:extLst>
              <a:ext uri="{FF2B5EF4-FFF2-40B4-BE49-F238E27FC236}">
                <a16:creationId xmlns:a16="http://schemas.microsoft.com/office/drawing/2014/main" id="{9A8AD7F8-011E-3E17-1FB2-1E5FC28217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87981" y="527670"/>
            <a:ext cx="1638850" cy="111240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F40F533-01FE-69ED-96E1-B8CC570294B4}"/>
              </a:ext>
            </a:extLst>
          </p:cNvPr>
          <p:cNvSpPr txBox="1"/>
          <p:nvPr/>
        </p:nvSpPr>
        <p:spPr>
          <a:xfrm>
            <a:off x="2209800" y="2227937"/>
            <a:ext cx="5522975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 DIAGRAM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STATUS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EXPERIMAENTAL MODIFICATIONS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NEXT STEPS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WORK FLOW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REFERENCES</a:t>
            </a:r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AFC50-5068-81E2-E880-D673D16DB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1"/>
            <a:ext cx="12192001" cy="1483374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77D935-74CA-931B-B53F-F4DB6C8304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09181" y="27801"/>
            <a:ext cx="1066540" cy="1058591"/>
          </a:xfrm>
          <a:prstGeom prst="rect">
            <a:avLst/>
          </a:prstGeom>
        </p:spPr>
      </p:pic>
      <p:pic>
        <p:nvPicPr>
          <p:cNvPr id="6" name="Picture 7">
            <a:extLst>
              <a:ext uri="{FF2B5EF4-FFF2-40B4-BE49-F238E27FC236}">
                <a16:creationId xmlns:a16="http://schemas.microsoft.com/office/drawing/2014/main" id="{A0B86429-D583-EDAA-B004-524296F0A1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3969" y="27801"/>
            <a:ext cx="1638850" cy="1112406"/>
          </a:xfrm>
          <a:prstGeom prst="rect">
            <a:avLst/>
          </a:prstGeom>
        </p:spPr>
      </p:pic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D4C048DC-D39F-8DE8-2447-14FF633067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5529358"/>
              </p:ext>
            </p:extLst>
          </p:nvPr>
        </p:nvGraphicFramePr>
        <p:xfrm>
          <a:off x="327260" y="1222410"/>
          <a:ext cx="11500945" cy="55144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3452">
                  <a:extLst>
                    <a:ext uri="{9D8B030D-6E8A-4147-A177-3AD203B41FA5}">
                      <a16:colId xmlns:a16="http://schemas.microsoft.com/office/drawing/2014/main" val="4223420500"/>
                    </a:ext>
                  </a:extLst>
                </a:gridCol>
                <a:gridCol w="2488994">
                  <a:extLst>
                    <a:ext uri="{9D8B030D-6E8A-4147-A177-3AD203B41FA5}">
                      <a16:colId xmlns:a16="http://schemas.microsoft.com/office/drawing/2014/main" val="3791239157"/>
                    </a:ext>
                  </a:extLst>
                </a:gridCol>
                <a:gridCol w="2440190">
                  <a:extLst>
                    <a:ext uri="{9D8B030D-6E8A-4147-A177-3AD203B41FA5}">
                      <a16:colId xmlns:a16="http://schemas.microsoft.com/office/drawing/2014/main" val="1202851857"/>
                    </a:ext>
                  </a:extLst>
                </a:gridCol>
                <a:gridCol w="2264497">
                  <a:extLst>
                    <a:ext uri="{9D8B030D-6E8A-4147-A177-3AD203B41FA5}">
                      <a16:colId xmlns:a16="http://schemas.microsoft.com/office/drawing/2014/main" val="3058503411"/>
                    </a:ext>
                  </a:extLst>
                </a:gridCol>
                <a:gridCol w="3473812">
                  <a:extLst>
                    <a:ext uri="{9D8B030D-6E8A-4147-A177-3AD203B41FA5}">
                      <a16:colId xmlns:a16="http://schemas.microsoft.com/office/drawing/2014/main" val="2990266944"/>
                    </a:ext>
                  </a:extLst>
                </a:gridCol>
              </a:tblGrid>
              <a:tr h="1146897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JOURNAL DETAILS WITH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SIGNIFICANT CONTRIBUTION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1721468"/>
                  </a:ext>
                </a:extLst>
              </a:tr>
              <a:tr h="2081560">
                <a:tc>
                  <a:txBody>
                    <a:bodyPr/>
                    <a:lstStyle/>
                    <a:p>
                      <a:pPr algn="just"/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 Hemavathy and</a:t>
                      </a:r>
                    </a:p>
                    <a:p>
                      <a:pPr algn="l"/>
                      <a:r>
                        <a:rPr lang="sv-S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V. S. Kanchana Bhaaskaran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“</a:t>
                      </a:r>
                      <a:r>
                        <a:rPr lang="en-IN" alt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Arbiter PUF—A Review of Design, Composition, and Security Aspects</a:t>
                      </a:r>
                      <a:endParaRPr kumimoji="0" lang="en-I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algn="l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”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nl-NL" sz="18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 Access, vol. 11, pp. 33979–33993, 2023</a:t>
                      </a:r>
                      <a:endParaRPr 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Inference: 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Provided a comprehensive review of Arbiter PUF designs, metrics, and their resilience against ML attacks.</a:t>
                      </a: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endParaRPr lang="en-US" sz="1600" b="0" i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Many existing PUF architectures are still susceptible to deep learning and side-channel modeling.</a:t>
                      </a:r>
                      <a:endParaRPr lang="en-US" sz="1600" b="0" i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285539"/>
                  </a:ext>
                </a:extLst>
              </a:tr>
              <a:tr h="2205572">
                <a:tc>
                  <a:txBody>
                    <a:bodyPr/>
                    <a:lstStyle/>
                    <a:p>
                      <a:pPr algn="just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Sivappriya Manivannan, Rajat Subhra Chakraborty, Indrajit Chakrabarti, and Jothi Ramalingam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“Practical and Efficient PUF-Based Protocol for Authentication and Key Agreement in IoT”</a:t>
                      </a: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 Embedded Systems Letters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vol. 16, no. 2, pp. 118–121, </a:t>
                      </a:r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  <a:endParaRPr lang="en-IN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49530"/>
                </a:tc>
                <a:tc>
                  <a:txBody>
                    <a:bodyPr/>
                    <a:lstStyle/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Inference: 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a lightweight authentication and key agreement protocol using Arbiter PUF, Fuzzy Extractor, and ECDH.</a:t>
                      </a:r>
                      <a:endParaRPr lang="en-US" sz="1600" b="0" i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endParaRPr lang="en-US" sz="1600" b="0" i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Problem Identified: 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Conventional systems store large CRP sets or require pairing operations—both unsuitable for IoT.</a:t>
                      </a:r>
                      <a:endParaRPr lang="en-US" sz="1600" b="0" i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1933848"/>
                  </a:ext>
                </a:extLst>
              </a:tr>
            </a:tbl>
          </a:graphicData>
        </a:graphic>
      </p:graphicFrame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10/10/2025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SECOND REVIEW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3821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AFC50-5068-81E2-E880-D673D16DB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1"/>
            <a:ext cx="12192001" cy="1483374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77D935-74CA-931B-B53F-F4DB6C8304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09181" y="27801"/>
            <a:ext cx="1066540" cy="1058591"/>
          </a:xfrm>
          <a:prstGeom prst="rect">
            <a:avLst/>
          </a:prstGeom>
        </p:spPr>
      </p:pic>
      <p:pic>
        <p:nvPicPr>
          <p:cNvPr id="6" name="Picture 7">
            <a:extLst>
              <a:ext uri="{FF2B5EF4-FFF2-40B4-BE49-F238E27FC236}">
                <a16:creationId xmlns:a16="http://schemas.microsoft.com/office/drawing/2014/main" id="{A0B86429-D583-EDAA-B004-524296F0A1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3969" y="27801"/>
            <a:ext cx="1638850" cy="1112406"/>
          </a:xfrm>
          <a:prstGeom prst="rect">
            <a:avLst/>
          </a:prstGeom>
        </p:spPr>
      </p:pic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D4C048DC-D39F-8DE8-2447-14FF633067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406103"/>
              </p:ext>
            </p:extLst>
          </p:nvPr>
        </p:nvGraphicFramePr>
        <p:xfrm>
          <a:off x="327260" y="1222410"/>
          <a:ext cx="11500945" cy="54340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3452">
                  <a:extLst>
                    <a:ext uri="{9D8B030D-6E8A-4147-A177-3AD203B41FA5}">
                      <a16:colId xmlns:a16="http://schemas.microsoft.com/office/drawing/2014/main" val="4223420500"/>
                    </a:ext>
                  </a:extLst>
                </a:gridCol>
                <a:gridCol w="2488994">
                  <a:extLst>
                    <a:ext uri="{9D8B030D-6E8A-4147-A177-3AD203B41FA5}">
                      <a16:colId xmlns:a16="http://schemas.microsoft.com/office/drawing/2014/main" val="3791239157"/>
                    </a:ext>
                  </a:extLst>
                </a:gridCol>
                <a:gridCol w="2440190">
                  <a:extLst>
                    <a:ext uri="{9D8B030D-6E8A-4147-A177-3AD203B41FA5}">
                      <a16:colId xmlns:a16="http://schemas.microsoft.com/office/drawing/2014/main" val="1202851857"/>
                    </a:ext>
                  </a:extLst>
                </a:gridCol>
                <a:gridCol w="2264497">
                  <a:extLst>
                    <a:ext uri="{9D8B030D-6E8A-4147-A177-3AD203B41FA5}">
                      <a16:colId xmlns:a16="http://schemas.microsoft.com/office/drawing/2014/main" val="3058503411"/>
                    </a:ext>
                  </a:extLst>
                </a:gridCol>
                <a:gridCol w="3473812">
                  <a:extLst>
                    <a:ext uri="{9D8B030D-6E8A-4147-A177-3AD203B41FA5}">
                      <a16:colId xmlns:a16="http://schemas.microsoft.com/office/drawing/2014/main" val="2990266944"/>
                    </a:ext>
                  </a:extLst>
                </a:gridCol>
              </a:tblGrid>
              <a:tr h="1146897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JOURNAL DETAILS WITH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SIGNIFICANT CONTRIBUTION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1721468"/>
                  </a:ext>
                </a:extLst>
              </a:tr>
              <a:tr h="2081560">
                <a:tc>
                  <a:txBody>
                    <a:bodyPr/>
                    <a:lstStyle/>
                    <a:p>
                      <a:pPr algn="just"/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Jim </a:t>
                      </a:r>
                      <a:r>
                        <a:rPr lang="en-I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Plusquellic</a:t>
                      </a: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Eirini Eleni Tsiropoulou, and Cyrus </a:t>
                      </a:r>
                      <a:r>
                        <a:rPr lang="en-I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Minwalla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“Privacy-Preserving Authentication Protocols for IoT Devices Using the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SiRF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PUF”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 Transactions on Emerging Topics in Computing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vol. 11, no. 4, pp. 918–931, </a:t>
                      </a: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Inference: 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Developed COBRA and PARCE protocols using </a:t>
                      </a:r>
                      <a:r>
                        <a:rPr lang="en-US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SiRF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PUF that enhance privacy without leaking CRPs.</a:t>
                      </a:r>
                      <a:endParaRPr lang="en-US" sz="1600" b="0" i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Problem Identified: 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Conventional strong PUFs are vulnerable to model-building and response-leakage attacks.</a:t>
                      </a:r>
                      <a:endParaRPr lang="en-US" sz="1600" b="0" i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285539"/>
                  </a:ext>
                </a:extLst>
              </a:tr>
              <a:tr h="2205572">
                <a:tc>
                  <a:txBody>
                    <a:bodyPr/>
                    <a:lstStyle/>
                    <a:p>
                      <a:pPr algn="just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Fadi Farha, </a:t>
                      </a:r>
                      <a:r>
                        <a:rPr lang="en-I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Huansheng</a:t>
                      </a: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Ning, Karim Ali, Liming Chen, and Christopher Nugent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“SRAM-PUF-Based Entities Authentication Scheme for Resource-Constrained IoT Devices</a:t>
                      </a: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 Internet of Things Journal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vol. 8, no. 7, pp. 5904–5914, </a:t>
                      </a: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2021</a:t>
                      </a:r>
                      <a:endParaRPr lang="en-IN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49530"/>
                </a:tc>
                <a:tc>
                  <a:txBody>
                    <a:bodyPr/>
                    <a:lstStyle/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Inference: 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a lightweight SRAM-PUF authentication scheme suitable for low-power IoT devices.</a:t>
                      </a: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endParaRPr lang="en-US" sz="1600" b="0" i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Problem Identified: 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SRAM-PUFs suffer from noise and entropy issues, especially under changing environmental conditions.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1933848"/>
                  </a:ext>
                </a:extLst>
              </a:tr>
            </a:tbl>
          </a:graphicData>
        </a:graphic>
      </p:graphicFrame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10/10/2025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SECOND REVIEW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2077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EDFA7-1D52-DEB5-4294-77A19F8B3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BD261C15-5C80-E6D8-45BB-9C94CBDA10DB}"/>
              </a:ext>
            </a:extLst>
          </p:cNvPr>
          <p:cNvSpPr txBox="1"/>
          <p:nvPr/>
        </p:nvSpPr>
        <p:spPr>
          <a:xfrm>
            <a:off x="1833369" y="880534"/>
            <a:ext cx="8525262" cy="512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00"/>
              </a:lnSpc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60BF0B7-43AB-090D-EDF4-C9F242D22895}"/>
              </a:ext>
            </a:extLst>
          </p:cNvPr>
          <p:cNvSpPr txBox="1"/>
          <p:nvPr/>
        </p:nvSpPr>
        <p:spPr>
          <a:xfrm>
            <a:off x="685799" y="1993900"/>
            <a:ext cx="10699955" cy="31763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</a:rPr>
              <a:t>To develop a robust Arbiter PUF using Verilog HDL.</a:t>
            </a:r>
          </a:p>
          <a:p>
            <a:pPr marL="342900" indent="-342900" algn="just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</a:rPr>
              <a:t>To analyze the uniqueness of the Arbiter PUF by generating responses to multiple challenges and comparing the responses across different PUF instances.</a:t>
            </a:r>
          </a:p>
          <a:p>
            <a:pPr marL="342900" indent="-342900" algn="just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</a:rPr>
              <a:t>To evaluate various PUF metrices such as Inter-chip variation, Intra-chip variation, uniformity, reliability and bit-aliasing.</a:t>
            </a:r>
          </a:p>
          <a:p>
            <a:pPr marL="342900" indent="-342900" algn="just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</a:rPr>
              <a:t>To implement the developed Arbiter PUF in  FPGA platform, focusing on validating its functionality.</a:t>
            </a:r>
          </a:p>
          <a:p>
            <a:pPr marL="342900" indent="-342900" algn="just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8233190-5FDB-C95D-4559-1E0252BAAF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09600" y="527670"/>
            <a:ext cx="1117600" cy="1109270"/>
          </a:xfrm>
          <a:prstGeom prst="rect">
            <a:avLst/>
          </a:prstGeom>
        </p:spPr>
      </p:pic>
      <p:sp>
        <p:nvSpPr>
          <p:cNvPr id="8" name="Freeform 5">
            <a:extLst>
              <a:ext uri="{FF2B5EF4-FFF2-40B4-BE49-F238E27FC236}">
                <a16:creationId xmlns:a16="http://schemas.microsoft.com/office/drawing/2014/main" id="{A2EB724D-01FF-427C-B4BC-C0225A6B093D}"/>
              </a:ext>
            </a:extLst>
          </p:cNvPr>
          <p:cNvSpPr/>
          <p:nvPr/>
        </p:nvSpPr>
        <p:spPr>
          <a:xfrm>
            <a:off x="9828867" y="485658"/>
            <a:ext cx="1763501" cy="1151281"/>
          </a:xfrm>
          <a:custGeom>
            <a:avLst/>
            <a:gdLst/>
            <a:ahLst/>
            <a:cxnLst/>
            <a:rect l="l" t="t" r="r" b="b"/>
            <a:pathLst>
              <a:path w="2645251" h="1726922">
                <a:moveTo>
                  <a:pt x="0" y="0"/>
                </a:moveTo>
                <a:lnTo>
                  <a:pt x="2645251" y="0"/>
                </a:lnTo>
                <a:lnTo>
                  <a:pt x="2645251" y="1726922"/>
                </a:lnTo>
                <a:lnTo>
                  <a:pt x="0" y="17269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 sz="12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10/10/2025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SECOND REVIEW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7229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9A0ED-0611-4239-3554-1825955BF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380930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 DIAGRAM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1C12A2-3AE2-DB49-EBEC-6DD61243FD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73444" y="138217"/>
            <a:ext cx="1066540" cy="1058591"/>
          </a:xfrm>
          <a:prstGeom prst="rect">
            <a:avLst/>
          </a:prstGeom>
        </p:spPr>
      </p:pic>
      <p:pic>
        <p:nvPicPr>
          <p:cNvPr id="6" name="Picture 7">
            <a:extLst>
              <a:ext uri="{FF2B5EF4-FFF2-40B4-BE49-F238E27FC236}">
                <a16:creationId xmlns:a16="http://schemas.microsoft.com/office/drawing/2014/main" id="{5C2033C7-F3A3-D1AB-0B9B-6D949C17C7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79706" y="106332"/>
            <a:ext cx="1638850" cy="1112406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10/10/2025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SECOND REVIEW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6</a:t>
            </a:fld>
            <a:endParaRPr lang="en-US"/>
          </a:p>
        </p:txBody>
      </p:sp>
      <p:pic>
        <p:nvPicPr>
          <p:cNvPr id="8" name="Picture 3">
            <a:extLst>
              <a:ext uri="{FF2B5EF4-FFF2-40B4-BE49-F238E27FC236}">
                <a16:creationId xmlns:a16="http://schemas.microsoft.com/office/drawing/2014/main" id="{059DC049-BE45-443B-900A-504D95A9EC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8079" y="1611470"/>
            <a:ext cx="9007102" cy="42940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090752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9A0ED-0611-4239-3554-1825955BF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380930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SCHEMATIC DIAGRAM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1C12A2-3AE2-DB49-EBEC-6DD61243FD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73444" y="138217"/>
            <a:ext cx="1066540" cy="1058591"/>
          </a:xfrm>
          <a:prstGeom prst="rect">
            <a:avLst/>
          </a:prstGeom>
        </p:spPr>
      </p:pic>
      <p:pic>
        <p:nvPicPr>
          <p:cNvPr id="6" name="Picture 7">
            <a:extLst>
              <a:ext uri="{FF2B5EF4-FFF2-40B4-BE49-F238E27FC236}">
                <a16:creationId xmlns:a16="http://schemas.microsoft.com/office/drawing/2014/main" id="{5C2033C7-F3A3-D1AB-0B9B-6D949C17C7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79706" y="106332"/>
            <a:ext cx="1638850" cy="1112406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10/10/2025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SECOND REVIEW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7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E6BDD40-3C5C-460D-9435-C2CE1C83A5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609911"/>
            <a:ext cx="11410950" cy="4181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1360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Status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10/10/2025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SECOND REVIEW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8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D150049-D50C-1D8F-B5D2-43DB2A80FB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60771" y="365125"/>
            <a:ext cx="1066540" cy="1058591"/>
          </a:xfrm>
          <a:prstGeom prst="rect">
            <a:avLst/>
          </a:prstGeom>
        </p:spPr>
      </p:pic>
      <p:sp>
        <p:nvSpPr>
          <p:cNvPr id="9" name="Freeform 5">
            <a:extLst>
              <a:ext uri="{FF2B5EF4-FFF2-40B4-BE49-F238E27FC236}">
                <a16:creationId xmlns:a16="http://schemas.microsoft.com/office/drawing/2014/main" id="{DD1A6367-F06E-9AFA-85AC-631B443096A9}"/>
              </a:ext>
            </a:extLst>
          </p:cNvPr>
          <p:cNvSpPr/>
          <p:nvPr/>
        </p:nvSpPr>
        <p:spPr>
          <a:xfrm>
            <a:off x="9828867" y="485658"/>
            <a:ext cx="1763501" cy="1151281"/>
          </a:xfrm>
          <a:custGeom>
            <a:avLst/>
            <a:gdLst/>
            <a:ahLst/>
            <a:cxnLst/>
            <a:rect l="l" t="t" r="r" b="b"/>
            <a:pathLst>
              <a:path w="2645251" h="1726922">
                <a:moveTo>
                  <a:pt x="0" y="0"/>
                </a:moveTo>
                <a:lnTo>
                  <a:pt x="2645251" y="0"/>
                </a:lnTo>
                <a:lnTo>
                  <a:pt x="2645251" y="1726922"/>
                </a:lnTo>
                <a:lnTo>
                  <a:pt x="0" y="17269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 sz="1200" dirty="0"/>
          </a:p>
        </p:txBody>
      </p:sp>
      <p:sp>
        <p:nvSpPr>
          <p:cNvPr id="18" name="Rectangle 10">
            <a:extLst>
              <a:ext uri="{FF2B5EF4-FFF2-40B4-BE49-F238E27FC236}">
                <a16:creationId xmlns:a16="http://schemas.microsoft.com/office/drawing/2014/main" id="{8393E6CE-437F-70A6-5505-9A6B78252CB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93763" y="2266171"/>
            <a:ext cx="10259907" cy="29320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implemented Arbiter PUF design on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Basys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 FPGA.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Verified stability of 87.5%, confirming high reliability across multiple test runs.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Attempted to enhance uniqueness using different interfaces and testing methods, achieving a uniqueness of 12.5%.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Observed that FPGA implementation stability is excellent, but uniqueness remains limited due to placement uniformity.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are currently using Cadence software for AS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synthesis. </a:t>
            </a:r>
          </a:p>
        </p:txBody>
      </p:sp>
    </p:spTree>
    <p:extLst>
      <p:ext uri="{BB962C8B-B14F-4D97-AF65-F5344CB8AC3E}">
        <p14:creationId xmlns:p14="http://schemas.microsoft.com/office/powerpoint/2010/main" val="35592219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CB1122-681E-AC49-A70C-088C28E11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10/10/2025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4C0ECB-4176-8DF8-94B3-D1FAC8C62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SECOND REVIEW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772273-3E26-7F4B-3E2C-B906FA975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16043E-523E-955C-504E-3E1C45BF5822}"/>
              </a:ext>
            </a:extLst>
          </p:cNvPr>
          <p:cNvSpPr txBox="1"/>
          <p:nvPr/>
        </p:nvSpPr>
        <p:spPr>
          <a:xfrm>
            <a:off x="2602433" y="460690"/>
            <a:ext cx="698713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Modifications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5BF618-8BC1-D7B7-AA2F-A76B736B2DB7}"/>
              </a:ext>
            </a:extLst>
          </p:cNvPr>
          <p:cNvSpPr txBox="1"/>
          <p:nvPr/>
        </p:nvSpPr>
        <p:spPr>
          <a:xfrm>
            <a:off x="1316048" y="1877661"/>
            <a:ext cx="9559901" cy="3277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Explored Virtual Input/Output (VIO):</a:t>
            </a:r>
            <a:endParaRPr lang="en-US" alt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 Replace UART for direct hardware-level interaction and faster on-board testing.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Outcome: Enabled on-board challenge/response visualization and reduced dependency on PC serial communication.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Maintained UART integration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external logging and verification during previous tests.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Note: </a:t>
            </a:r>
            <a:r>
              <a:rPr lang="en-US" alt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did not increase the number of challenge inputs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experiments focused on interface/method changes only.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0D16C69-B0AA-67BB-A0D8-BE49622408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60771" y="365125"/>
            <a:ext cx="1066540" cy="1058591"/>
          </a:xfrm>
          <a:prstGeom prst="rect">
            <a:avLst/>
          </a:prstGeom>
        </p:spPr>
      </p:pic>
      <p:sp>
        <p:nvSpPr>
          <p:cNvPr id="10" name="Freeform 5">
            <a:extLst>
              <a:ext uri="{FF2B5EF4-FFF2-40B4-BE49-F238E27FC236}">
                <a16:creationId xmlns:a16="http://schemas.microsoft.com/office/drawing/2014/main" id="{98D08C50-AB3F-F9CD-CE3F-AB49FBF1CE60}"/>
              </a:ext>
            </a:extLst>
          </p:cNvPr>
          <p:cNvSpPr/>
          <p:nvPr/>
        </p:nvSpPr>
        <p:spPr>
          <a:xfrm>
            <a:off x="9828867" y="485658"/>
            <a:ext cx="1763501" cy="1151281"/>
          </a:xfrm>
          <a:custGeom>
            <a:avLst/>
            <a:gdLst/>
            <a:ahLst/>
            <a:cxnLst/>
            <a:rect l="l" t="t" r="r" b="b"/>
            <a:pathLst>
              <a:path w="2645251" h="1726922">
                <a:moveTo>
                  <a:pt x="0" y="0"/>
                </a:moveTo>
                <a:lnTo>
                  <a:pt x="2645251" y="0"/>
                </a:lnTo>
                <a:lnTo>
                  <a:pt x="2645251" y="1726922"/>
                </a:lnTo>
                <a:lnTo>
                  <a:pt x="0" y="17269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17527595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A4EF26-597F-CCB9-5FB7-EDF9DCD63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10/10/2025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ABD1B7-F9CD-A237-190F-1510A108D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SECOND REVIEW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C510B9-FFD6-BE3C-40B5-D7AF0DB2D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10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CD6823-635B-8E69-344B-E79401622925}"/>
              </a:ext>
            </a:extLst>
          </p:cNvPr>
          <p:cNvSpPr txBox="1"/>
          <p:nvPr/>
        </p:nvSpPr>
        <p:spPr>
          <a:xfrm>
            <a:off x="3516833" y="321087"/>
            <a:ext cx="515833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Analysis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78B362-3B26-FD32-EFFF-90318FEDB38B}"/>
              </a:ext>
            </a:extLst>
          </p:cNvPr>
          <p:cNvSpPr txBox="1"/>
          <p:nvPr/>
        </p:nvSpPr>
        <p:spPr>
          <a:xfrm>
            <a:off x="1175819" y="2043183"/>
            <a:ext cx="1008632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Stability: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Maintained 87.5% response repeatability, showing minimal bit flips across trials. 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Uniqueness: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Efforts to increase inter-chip variation through VIO and interface modifications resulted in a uniqueness of only 12.5%.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Reason: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Vivado’s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automatic placement and routing tends to produce similar delay paths, limiting inter-device variation. 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Achieved high reliability; uniqueness remains constrained by FPGA-level optimization. </a:t>
            </a:r>
          </a:p>
        </p:txBody>
      </p:sp>
      <p:sp>
        <p:nvSpPr>
          <p:cNvPr id="8" name="Freeform 5">
            <a:extLst>
              <a:ext uri="{FF2B5EF4-FFF2-40B4-BE49-F238E27FC236}">
                <a16:creationId xmlns:a16="http://schemas.microsoft.com/office/drawing/2014/main" id="{53BE4167-EB26-A4E1-5BAD-4D2344F88E28}"/>
              </a:ext>
            </a:extLst>
          </p:cNvPr>
          <p:cNvSpPr/>
          <p:nvPr/>
        </p:nvSpPr>
        <p:spPr>
          <a:xfrm>
            <a:off x="9828867" y="485658"/>
            <a:ext cx="1763501" cy="1151281"/>
          </a:xfrm>
          <a:custGeom>
            <a:avLst/>
            <a:gdLst/>
            <a:ahLst/>
            <a:cxnLst/>
            <a:rect l="l" t="t" r="r" b="b"/>
            <a:pathLst>
              <a:path w="2645251" h="1726922">
                <a:moveTo>
                  <a:pt x="0" y="0"/>
                </a:moveTo>
                <a:lnTo>
                  <a:pt x="2645251" y="0"/>
                </a:lnTo>
                <a:lnTo>
                  <a:pt x="2645251" y="1726922"/>
                </a:lnTo>
                <a:lnTo>
                  <a:pt x="0" y="17269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sz="1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E5D8481-C98E-A8F5-4713-F80A9DE857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360771" y="365125"/>
            <a:ext cx="1066540" cy="1058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8192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A452B1-8356-26D7-B3BC-4975C3D49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377B24-D127-5CDA-666F-852B89D82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10/10/2025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1713F2-7B29-519E-C7C5-49B141F98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SECOND REVIEW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9A7F48-BA24-93ED-39D1-2DB723B6E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11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C7F917-DD33-DCF2-4297-FCE090FC302A}"/>
              </a:ext>
            </a:extLst>
          </p:cNvPr>
          <p:cNvSpPr txBox="1"/>
          <p:nvPr/>
        </p:nvSpPr>
        <p:spPr>
          <a:xfrm>
            <a:off x="3516833" y="321087"/>
            <a:ext cx="515833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Analysis</a:t>
            </a:r>
          </a:p>
        </p:txBody>
      </p:sp>
      <p:sp>
        <p:nvSpPr>
          <p:cNvPr id="8" name="Freeform 5">
            <a:extLst>
              <a:ext uri="{FF2B5EF4-FFF2-40B4-BE49-F238E27FC236}">
                <a16:creationId xmlns:a16="http://schemas.microsoft.com/office/drawing/2014/main" id="{A180B2AD-47B0-F61C-D6D5-0985FFBBF70B}"/>
              </a:ext>
            </a:extLst>
          </p:cNvPr>
          <p:cNvSpPr/>
          <p:nvPr/>
        </p:nvSpPr>
        <p:spPr>
          <a:xfrm>
            <a:off x="9828867" y="485658"/>
            <a:ext cx="1763501" cy="1151281"/>
          </a:xfrm>
          <a:custGeom>
            <a:avLst/>
            <a:gdLst/>
            <a:ahLst/>
            <a:cxnLst/>
            <a:rect l="l" t="t" r="r" b="b"/>
            <a:pathLst>
              <a:path w="2645251" h="1726922">
                <a:moveTo>
                  <a:pt x="0" y="0"/>
                </a:moveTo>
                <a:lnTo>
                  <a:pt x="2645251" y="0"/>
                </a:lnTo>
                <a:lnTo>
                  <a:pt x="2645251" y="1726922"/>
                </a:lnTo>
                <a:lnTo>
                  <a:pt x="0" y="17269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sz="1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FA9F779-F668-D2F9-973A-AC2436BE04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360771" y="365125"/>
            <a:ext cx="1066540" cy="105859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6094E0A-3608-FE24-6073-B23DD801D05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0492"/>
          <a:stretch>
            <a:fillRect/>
          </a:stretch>
        </p:blipFill>
        <p:spPr>
          <a:xfrm>
            <a:off x="1283421" y="2297040"/>
            <a:ext cx="9625156" cy="372612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F643BA0-B489-3064-9DEB-FBBE18371333}"/>
              </a:ext>
            </a:extLst>
          </p:cNvPr>
          <p:cNvSpPr txBox="1"/>
          <p:nvPr/>
        </p:nvSpPr>
        <p:spPr>
          <a:xfrm>
            <a:off x="1219513" y="1739814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Placement of LUTs</a:t>
            </a:r>
          </a:p>
        </p:txBody>
      </p:sp>
    </p:spTree>
    <p:extLst>
      <p:ext uri="{BB962C8B-B14F-4D97-AF65-F5344CB8AC3E}">
        <p14:creationId xmlns:p14="http://schemas.microsoft.com/office/powerpoint/2010/main" val="32257905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B60BC-76E6-952A-2FFB-7ED6585C7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18ED36-2525-9AEC-AD0D-487FFA0A4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10/10/2025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4547CE-71D5-6A42-CA65-68A0A09A1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SECOND REVIEW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17A621-56DB-8B90-FFFD-87FFA2C5A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12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E1959E-DED5-B32E-1915-31EAE3E9DCED}"/>
              </a:ext>
            </a:extLst>
          </p:cNvPr>
          <p:cNvSpPr txBox="1"/>
          <p:nvPr/>
        </p:nvSpPr>
        <p:spPr>
          <a:xfrm>
            <a:off x="3516833" y="321087"/>
            <a:ext cx="515833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Analysis</a:t>
            </a:r>
          </a:p>
        </p:txBody>
      </p:sp>
      <p:sp>
        <p:nvSpPr>
          <p:cNvPr id="8" name="Freeform 5">
            <a:extLst>
              <a:ext uri="{FF2B5EF4-FFF2-40B4-BE49-F238E27FC236}">
                <a16:creationId xmlns:a16="http://schemas.microsoft.com/office/drawing/2014/main" id="{9DF4FD8A-05F1-1C56-8088-C91D251E878C}"/>
              </a:ext>
            </a:extLst>
          </p:cNvPr>
          <p:cNvSpPr/>
          <p:nvPr/>
        </p:nvSpPr>
        <p:spPr>
          <a:xfrm>
            <a:off x="9828867" y="485658"/>
            <a:ext cx="1763501" cy="1151281"/>
          </a:xfrm>
          <a:custGeom>
            <a:avLst/>
            <a:gdLst/>
            <a:ahLst/>
            <a:cxnLst/>
            <a:rect l="l" t="t" r="r" b="b"/>
            <a:pathLst>
              <a:path w="2645251" h="1726922">
                <a:moveTo>
                  <a:pt x="0" y="0"/>
                </a:moveTo>
                <a:lnTo>
                  <a:pt x="2645251" y="0"/>
                </a:lnTo>
                <a:lnTo>
                  <a:pt x="2645251" y="1726922"/>
                </a:lnTo>
                <a:lnTo>
                  <a:pt x="0" y="17269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sz="1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C79FEBB-45AD-CBD6-E37D-CF78161341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360771" y="365125"/>
            <a:ext cx="1066540" cy="105859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0EAC4DF-CE16-63CB-C592-0BB64B78A764}"/>
              </a:ext>
            </a:extLst>
          </p:cNvPr>
          <p:cNvSpPr txBox="1"/>
          <p:nvPr/>
        </p:nvSpPr>
        <p:spPr>
          <a:xfrm>
            <a:off x="838200" y="1792310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Creating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Pblock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but LUTs Assigned Outside It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FF8B8C2-1648-3496-BA25-15ED55AF6B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4064" y="2325553"/>
            <a:ext cx="10419736" cy="4075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5369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6A3A23-9CE1-768B-67E5-041A48829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5D6D98-0F3C-8F2D-26BC-1802E4916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10/10/2025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3C80D6-EDB1-C222-22BF-881EF7669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SECOND REVIEW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083479-A8C6-47F7-AC02-B321B88FB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13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9F3793-9EC5-4F11-F1A9-7D02EFA4A511}"/>
              </a:ext>
            </a:extLst>
          </p:cNvPr>
          <p:cNvSpPr txBox="1"/>
          <p:nvPr/>
        </p:nvSpPr>
        <p:spPr>
          <a:xfrm>
            <a:off x="3516833" y="321087"/>
            <a:ext cx="515833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Analysis</a:t>
            </a:r>
          </a:p>
        </p:txBody>
      </p:sp>
      <p:sp>
        <p:nvSpPr>
          <p:cNvPr id="8" name="Freeform 5">
            <a:extLst>
              <a:ext uri="{FF2B5EF4-FFF2-40B4-BE49-F238E27FC236}">
                <a16:creationId xmlns:a16="http://schemas.microsoft.com/office/drawing/2014/main" id="{EA937E7F-CED2-E2FE-61F9-3DA41DC1ED6A}"/>
              </a:ext>
            </a:extLst>
          </p:cNvPr>
          <p:cNvSpPr/>
          <p:nvPr/>
        </p:nvSpPr>
        <p:spPr>
          <a:xfrm>
            <a:off x="9828867" y="485658"/>
            <a:ext cx="1763501" cy="1151281"/>
          </a:xfrm>
          <a:custGeom>
            <a:avLst/>
            <a:gdLst/>
            <a:ahLst/>
            <a:cxnLst/>
            <a:rect l="l" t="t" r="r" b="b"/>
            <a:pathLst>
              <a:path w="2645251" h="1726922">
                <a:moveTo>
                  <a:pt x="0" y="0"/>
                </a:moveTo>
                <a:lnTo>
                  <a:pt x="2645251" y="0"/>
                </a:lnTo>
                <a:lnTo>
                  <a:pt x="2645251" y="1726922"/>
                </a:lnTo>
                <a:lnTo>
                  <a:pt x="0" y="17269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sz="1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75872C0-1D29-8842-8121-4CDC92E42D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360771" y="365125"/>
            <a:ext cx="1066540" cy="105859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E8F2A7F-2C00-EA67-5997-88798FBB9129}"/>
              </a:ext>
            </a:extLst>
          </p:cNvPr>
          <p:cNvSpPr txBox="1"/>
          <p:nvPr/>
        </p:nvSpPr>
        <p:spPr>
          <a:xfrm>
            <a:off x="825910" y="1707873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Pblock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LUTs Placed Inside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9860E16-C532-C241-46C8-2DB90A1788E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894" t="396" r="894" b="-396"/>
          <a:stretch>
            <a:fillRect/>
          </a:stretch>
        </p:blipFill>
        <p:spPr>
          <a:xfrm>
            <a:off x="739878" y="2337198"/>
            <a:ext cx="10992736" cy="4035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4738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A4EF26-597F-CCB9-5FB7-EDF9DCD63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10/10/2025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ABD1B7-F9CD-A237-190F-1510A108D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SECOND REVIEW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C510B9-FFD6-BE3C-40B5-D7AF0DB2D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14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CD6823-635B-8E69-344B-E79401622925}"/>
              </a:ext>
            </a:extLst>
          </p:cNvPr>
          <p:cNvSpPr txBox="1"/>
          <p:nvPr/>
        </p:nvSpPr>
        <p:spPr>
          <a:xfrm>
            <a:off x="3516833" y="321087"/>
            <a:ext cx="515833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Analysis</a:t>
            </a:r>
          </a:p>
        </p:txBody>
      </p:sp>
      <p:sp>
        <p:nvSpPr>
          <p:cNvPr id="8" name="Freeform 5">
            <a:extLst>
              <a:ext uri="{FF2B5EF4-FFF2-40B4-BE49-F238E27FC236}">
                <a16:creationId xmlns:a16="http://schemas.microsoft.com/office/drawing/2014/main" id="{53BE4167-EB26-A4E1-5BAD-4D2344F88E28}"/>
              </a:ext>
            </a:extLst>
          </p:cNvPr>
          <p:cNvSpPr/>
          <p:nvPr/>
        </p:nvSpPr>
        <p:spPr>
          <a:xfrm>
            <a:off x="9828867" y="485658"/>
            <a:ext cx="1763501" cy="1151281"/>
          </a:xfrm>
          <a:custGeom>
            <a:avLst/>
            <a:gdLst/>
            <a:ahLst/>
            <a:cxnLst/>
            <a:rect l="l" t="t" r="r" b="b"/>
            <a:pathLst>
              <a:path w="2645251" h="1726922">
                <a:moveTo>
                  <a:pt x="0" y="0"/>
                </a:moveTo>
                <a:lnTo>
                  <a:pt x="2645251" y="0"/>
                </a:lnTo>
                <a:lnTo>
                  <a:pt x="2645251" y="1726922"/>
                </a:lnTo>
                <a:lnTo>
                  <a:pt x="0" y="17269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sz="1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E5D8481-C98E-A8F5-4713-F80A9DE857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360771" y="365125"/>
            <a:ext cx="1066540" cy="105859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1845857-3E56-461D-9398-A9897020A1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9715" y="2289124"/>
            <a:ext cx="5315405" cy="320181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BE6F722-E1E7-4CBD-BBEF-1B3D6235BB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275" y="2289124"/>
            <a:ext cx="5390011" cy="320181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DF43DFD-D9C4-4B53-BCA2-16EA955938BF}"/>
              </a:ext>
            </a:extLst>
          </p:cNvPr>
          <p:cNvSpPr txBox="1"/>
          <p:nvPr/>
        </p:nvSpPr>
        <p:spPr>
          <a:xfrm>
            <a:off x="612275" y="170656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GENUS SYNTHESIS REPORTS</a:t>
            </a:r>
          </a:p>
        </p:txBody>
      </p:sp>
    </p:spTree>
    <p:extLst>
      <p:ext uri="{BB962C8B-B14F-4D97-AF65-F5344CB8AC3E}">
        <p14:creationId xmlns:p14="http://schemas.microsoft.com/office/powerpoint/2010/main" val="14417745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A4EF26-597F-CCB9-5FB7-EDF9DCD63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10/10/2025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ABD1B7-F9CD-A237-190F-1510A108D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SECOND REVIEW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C510B9-FFD6-BE3C-40B5-D7AF0DB2D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15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CD6823-635B-8E69-344B-E79401622925}"/>
              </a:ext>
            </a:extLst>
          </p:cNvPr>
          <p:cNvSpPr txBox="1"/>
          <p:nvPr/>
        </p:nvSpPr>
        <p:spPr>
          <a:xfrm>
            <a:off x="3516833" y="321087"/>
            <a:ext cx="515833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Analysis</a:t>
            </a:r>
          </a:p>
        </p:txBody>
      </p:sp>
      <p:sp>
        <p:nvSpPr>
          <p:cNvPr id="8" name="Freeform 5">
            <a:extLst>
              <a:ext uri="{FF2B5EF4-FFF2-40B4-BE49-F238E27FC236}">
                <a16:creationId xmlns:a16="http://schemas.microsoft.com/office/drawing/2014/main" id="{53BE4167-EB26-A4E1-5BAD-4D2344F88E28}"/>
              </a:ext>
            </a:extLst>
          </p:cNvPr>
          <p:cNvSpPr/>
          <p:nvPr/>
        </p:nvSpPr>
        <p:spPr>
          <a:xfrm>
            <a:off x="9828867" y="485658"/>
            <a:ext cx="1763501" cy="1151281"/>
          </a:xfrm>
          <a:custGeom>
            <a:avLst/>
            <a:gdLst/>
            <a:ahLst/>
            <a:cxnLst/>
            <a:rect l="l" t="t" r="r" b="b"/>
            <a:pathLst>
              <a:path w="2645251" h="1726922">
                <a:moveTo>
                  <a:pt x="0" y="0"/>
                </a:moveTo>
                <a:lnTo>
                  <a:pt x="2645251" y="0"/>
                </a:lnTo>
                <a:lnTo>
                  <a:pt x="2645251" y="1726922"/>
                </a:lnTo>
                <a:lnTo>
                  <a:pt x="0" y="17269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sz="1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E5D8481-C98E-A8F5-4713-F80A9DE857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360771" y="365125"/>
            <a:ext cx="1066540" cy="105859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070EDA9-BF71-4818-8004-8EBD640381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211" y="1996236"/>
            <a:ext cx="5450750" cy="427834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FF7BBA3-5003-4F2D-B7A5-053EBD3F24B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4239" y="1996236"/>
            <a:ext cx="6017571" cy="247416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B24BC45-1C75-472F-A5CA-BA69555D842A}"/>
              </a:ext>
            </a:extLst>
          </p:cNvPr>
          <p:cNvSpPr txBox="1"/>
          <p:nvPr/>
        </p:nvSpPr>
        <p:spPr>
          <a:xfrm>
            <a:off x="401412" y="1563291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GENUS SYNTHESIS REPORTS</a:t>
            </a:r>
          </a:p>
        </p:txBody>
      </p:sp>
    </p:spTree>
    <p:extLst>
      <p:ext uri="{BB962C8B-B14F-4D97-AF65-F5344CB8AC3E}">
        <p14:creationId xmlns:p14="http://schemas.microsoft.com/office/powerpoint/2010/main" val="12304960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698123-E03A-701F-6E81-AF0B696BC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10/10/2025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998506-7477-71B9-5CBD-8A8D680FA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SECOND REVIEW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775A4C-956B-F177-29C7-FA8CD857D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16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1CB1E3-F4BD-163A-4170-EA75C7BF1AC7}"/>
              </a:ext>
            </a:extLst>
          </p:cNvPr>
          <p:cNvSpPr txBox="1"/>
          <p:nvPr/>
        </p:nvSpPr>
        <p:spPr>
          <a:xfrm>
            <a:off x="4724399" y="355987"/>
            <a:ext cx="27432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 Steps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55BF4579-69D4-0E5E-8ED9-FBA1D2771F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90374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Apply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manual floorplanning or routing constraints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Vivado to try to preserve physical delay differences.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Explore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alternative PUF architectures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(e.g., XOR Arbiter PUF, RO-PUF) or different FPGA families for improved uniqueness.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environmental testing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(temperature/voltage) to further evaluate robustness.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Prepare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hardware demo and metric comparison table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the next review.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FA4058-2CA6-62D2-B594-B17773AEB707}"/>
              </a:ext>
            </a:extLst>
          </p:cNvPr>
          <p:cNvSpPr txBox="1"/>
          <p:nvPr/>
        </p:nvSpPr>
        <p:spPr>
          <a:xfrm>
            <a:off x="1262242" y="2144032"/>
            <a:ext cx="9968823" cy="25699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</a:t>
            </a:r>
            <a:r>
              <a:rPr lang="en-US" alt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</a:t>
            </a:r>
            <a:r>
              <a:rPr lang="en-US" altLang="en-US" sz="2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floorplanning</a:t>
            </a:r>
            <a:r>
              <a:rPr lang="en-US" alt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routing constraints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US" alt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Vivado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try to preserve physical delay differences.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Explore </a:t>
            </a:r>
            <a:r>
              <a:rPr lang="en-US" alt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alternative PUF architectures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(e.g., XOR Arbiter PUF, RO-PUF) or different FPGA families for improved uniqueness.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</a:t>
            </a:r>
            <a:r>
              <a:rPr lang="en-US" alt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testing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(temperature/voltage) to further evaluate robustness.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 </a:t>
            </a:r>
            <a:r>
              <a:rPr lang="en-US" alt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demo and metric comparison table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the next review.</a:t>
            </a:r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17CBDDFF-031E-F711-2FBB-C3CE85CB016C}"/>
              </a:ext>
            </a:extLst>
          </p:cNvPr>
          <p:cNvSpPr/>
          <p:nvPr/>
        </p:nvSpPr>
        <p:spPr>
          <a:xfrm>
            <a:off x="9828867" y="485658"/>
            <a:ext cx="1763501" cy="1151281"/>
          </a:xfrm>
          <a:custGeom>
            <a:avLst/>
            <a:gdLst/>
            <a:ahLst/>
            <a:cxnLst/>
            <a:rect l="l" t="t" r="r" b="b"/>
            <a:pathLst>
              <a:path w="2645251" h="1726922">
                <a:moveTo>
                  <a:pt x="0" y="0"/>
                </a:moveTo>
                <a:lnTo>
                  <a:pt x="2645251" y="0"/>
                </a:lnTo>
                <a:lnTo>
                  <a:pt x="2645251" y="1726922"/>
                </a:lnTo>
                <a:lnTo>
                  <a:pt x="0" y="17269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sz="12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B29E40F-065C-1949-76CC-1B62D79186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360771" y="365125"/>
            <a:ext cx="1066540" cy="1058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9405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D770B-D78A-E0E7-3694-92698CE24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WORK FLOW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DD7ADF-5DC6-7A84-7542-71002F4930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69697" y="340348"/>
            <a:ext cx="1066540" cy="1058591"/>
          </a:xfrm>
          <a:prstGeom prst="rect">
            <a:avLst/>
          </a:prstGeom>
        </p:spPr>
      </p:pic>
      <p:pic>
        <p:nvPicPr>
          <p:cNvPr id="5" name="Picture 7">
            <a:extLst>
              <a:ext uri="{FF2B5EF4-FFF2-40B4-BE49-F238E27FC236}">
                <a16:creationId xmlns:a16="http://schemas.microsoft.com/office/drawing/2014/main" id="{5C2033C7-F3A3-D1AB-0B9B-6D949C17C7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79706" y="349973"/>
            <a:ext cx="1638850" cy="1112406"/>
          </a:xfrm>
          <a:prstGeom prst="rect">
            <a:avLst/>
          </a:prstGeom>
        </p:spPr>
      </p:pic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49943388"/>
              </p:ext>
            </p:extLst>
          </p:nvPr>
        </p:nvGraphicFramePr>
        <p:xfrm>
          <a:off x="838200" y="1474406"/>
          <a:ext cx="10330044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650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650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4745">
                <a:tc>
                  <a:txBody>
                    <a:bodyPr/>
                    <a:lstStyle/>
                    <a:p>
                      <a:pPr algn="ctr"/>
                      <a:r>
                        <a:rPr lang="en-IN" sz="2400" b="0" dirty="0">
                          <a:latin typeface="Times New Roman" pitchFamily="18" charset="0"/>
                          <a:cs typeface="Times New Roman" pitchFamily="18" charset="0"/>
                        </a:rPr>
                        <a:t>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</a:t>
                      </a:r>
                      <a:r>
                        <a:rPr lang="en-IN" sz="2400" b="0">
                          <a:latin typeface="Times New Roman" pitchFamily="18" charset="0"/>
                          <a:cs typeface="Times New Roman" pitchFamily="18" charset="0"/>
                        </a:rPr>
                        <a:t>Work to be Done</a:t>
                      </a:r>
                      <a:endParaRPr lang="en-IN" sz="1800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4439">
                <a:tc>
                  <a:txBody>
                    <a:bodyPr/>
                    <a:lstStyle/>
                    <a:p>
                      <a:pPr algn="just"/>
                      <a:r>
                        <a:rPr lang="en-IN" sz="2800" b="0">
                          <a:latin typeface="Times New Roman" pitchFamily="18" charset="0"/>
                          <a:cs typeface="Times New Roman" pitchFamily="18" charset="0"/>
                        </a:rPr>
                        <a:t>                    Review 1</a:t>
                      </a:r>
                      <a:endParaRPr lang="en-IN" sz="2800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Implemented 8-bit Arbiter PUF in Verilog and verified functionality in Vivado with UART interface.</a:t>
                      </a:r>
                      <a:endParaRPr lang="en-IN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73929">
                <a:tc>
                  <a:txBody>
                    <a:bodyPr/>
                    <a:lstStyle/>
                    <a:p>
                      <a:r>
                        <a:rPr lang="en-IN" sz="2800" b="0">
                          <a:latin typeface="Times New Roman" pitchFamily="18" charset="0"/>
                          <a:cs typeface="Times New Roman" pitchFamily="18" charset="0"/>
                        </a:rPr>
                        <a:t>                   </a:t>
                      </a:r>
                      <a:r>
                        <a:rPr lang="en-IN" sz="2800" b="0" baseline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IN" sz="2800" b="0">
                          <a:latin typeface="Times New Roman" pitchFamily="18" charset="0"/>
                          <a:cs typeface="Times New Roman" pitchFamily="18" charset="0"/>
                        </a:rPr>
                        <a:t>Review 2</a:t>
                      </a:r>
                      <a:endParaRPr lang="en-IN" sz="2800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Collected Challenge-Response Pairs (CRPs) and </a:t>
                      </a:r>
                      <a:r>
                        <a:rPr lang="en-GB" sz="2000" dirty="0" err="1"/>
                        <a:t>analyzed</a:t>
                      </a:r>
                      <a:r>
                        <a:rPr lang="en-GB" sz="2000" dirty="0"/>
                        <a:t> PUF metrics — stability, uniqueness, reliability, and uniformity. Achieved 99 % stability and tested new communication methods (VIO interface). Observed that </a:t>
                      </a:r>
                      <a:r>
                        <a:rPr lang="en-GB" sz="2000" dirty="0" err="1"/>
                        <a:t>Vivado</a:t>
                      </a:r>
                      <a:r>
                        <a:rPr lang="en-GB" sz="2000" dirty="0"/>
                        <a:t> optimization limits uniqueness improvement.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73929">
                <a:tc>
                  <a:txBody>
                    <a:bodyPr/>
                    <a:lstStyle/>
                    <a:p>
                      <a:r>
                        <a:rPr lang="en-IN" sz="2800" b="0">
                          <a:latin typeface="Times New Roman" pitchFamily="18" charset="0"/>
                          <a:cs typeface="Times New Roman" pitchFamily="18" charset="0"/>
                        </a:rPr>
                        <a:t>                    Review 3</a:t>
                      </a:r>
                      <a:endParaRPr lang="en-IN" sz="2800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Plan to enhance PUF uniqueness and stability using XOR-based architecture, manual placement / routing constraints, and post-processing techniques. Evaluate environmental robustness under voltage and temperature variations.</a:t>
                      </a:r>
                      <a:endParaRPr lang="en-IN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10/10/2025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SECOND REVIEW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0236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888" y="1597793"/>
            <a:ext cx="10862912" cy="4675422"/>
          </a:xfrm>
        </p:spPr>
        <p:txBody>
          <a:bodyPr>
            <a:normAutofit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J.Plusquellic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M.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Areno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,“Correlation-based robust authentication(cobra) using helper data only,” Cryptography, vol. 2, no. 3, 2018, Art. no. 21. [Online]. Available: https://www.mdpi.com/2410--387X/2/3/21 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D.Heeger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J.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Plusquellic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“Analysis of IoT authentication over LoRa,” in Proc. IEEE 16th Int. Conf.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Distrib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Comput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Sensor Syst., 2020, pp. 458–465.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J.Plusquellic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“Shift register,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reconvergent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-fanout (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SiRF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PUF implementation on an FPGA,” Cryptography, vol. 6, no. 4, 2022, Art. no. 59. [Online]. Available: https://www.mdpi.com/2410--387X/6/4/59 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U.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Rührmair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al., “PUF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attacks on simulated and silicon data,” IEEE Trans. Inf. Forensics Security, vol. 8, no. 11, pp. 1876–1891, Nov. 2013. 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G. T. Becker, “On the pitfalls of using Arbiter-PUFs as building blocks,” IEEE Trans.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Comput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.-Aided Design Integer. Circuits Syst., vol. 34, no. 8, pp. 1295–1307, Aug. 2015.</a:t>
            </a:r>
          </a:p>
          <a:p>
            <a:pPr marL="0" indent="0" algn="just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DD7ADF-5DC6-7A84-7542-71002F4930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73444" y="263345"/>
            <a:ext cx="1066540" cy="1058591"/>
          </a:xfrm>
          <a:prstGeom prst="rect">
            <a:avLst/>
          </a:prstGeom>
        </p:spPr>
      </p:pic>
      <p:pic>
        <p:nvPicPr>
          <p:cNvPr id="5" name="Picture 7">
            <a:extLst>
              <a:ext uri="{FF2B5EF4-FFF2-40B4-BE49-F238E27FC236}">
                <a16:creationId xmlns:a16="http://schemas.microsoft.com/office/drawing/2014/main" id="{5C2033C7-F3A3-D1AB-0B9B-6D949C17C7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5327" y="207922"/>
            <a:ext cx="1638850" cy="1112406"/>
          </a:xfrm>
          <a:prstGeom prst="rect">
            <a:avLst/>
          </a:prstGeom>
        </p:spPr>
      </p:pic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10/10/2025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SECOND REVIEW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8268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REFERENCES(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Cntd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 algn="just">
              <a:buFont typeface="+mj-lt"/>
              <a:buAutoNum type="arabicPeriod" startAt="6"/>
            </a:pP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Y. Wen and Y. Lao, “Enhancing PUF reliability by machine learning,” in Proc. IEEE Int. Symp. Circuits Syst., 2017, pp. 1–4. </a:t>
            </a:r>
          </a:p>
          <a:p>
            <a:pPr marL="457200" indent="-457200" algn="just">
              <a:buFont typeface="+mj-lt"/>
              <a:buAutoNum type="arabicPeriod" startAt="6"/>
            </a:pPr>
            <a:r>
              <a:rPr lang="en-IN" sz="2000" dirty="0" err="1">
                <a:latin typeface="Times New Roman" pitchFamily="18" charset="0"/>
                <a:cs typeface="Times New Roman" pitchFamily="18" charset="0"/>
              </a:rPr>
              <a:t>H.Awano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IN" sz="2000" dirty="0" err="1">
                <a:latin typeface="Times New Roman" pitchFamily="18" charset="0"/>
                <a:cs typeface="Times New Roman" pitchFamily="18" charset="0"/>
              </a:rPr>
              <a:t>T.Iizuka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IN" sz="2000" dirty="0" err="1">
                <a:latin typeface="Times New Roman" pitchFamily="18" charset="0"/>
                <a:cs typeface="Times New Roman" pitchFamily="18" charset="0"/>
              </a:rPr>
              <a:t>M.Ikeda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 “PUF Net :A deep neural network based </a:t>
            </a:r>
            <a:r>
              <a:rPr lang="en-IN" sz="2000" dirty="0" err="1">
                <a:latin typeface="Times New Roman" pitchFamily="18" charset="0"/>
                <a:cs typeface="Times New Roman" pitchFamily="18" charset="0"/>
              </a:rPr>
              <a:t>modeling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 attack for physically unclonable function,” in Proc. IEEE Int. Symp. Circuits Syst., 2019, pp. 1–4. </a:t>
            </a:r>
          </a:p>
          <a:p>
            <a:pPr marL="457200" indent="-457200" algn="just">
              <a:buFont typeface="+mj-lt"/>
              <a:buAutoNum type="arabicPeriod" startAt="6"/>
            </a:pP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Y. Xu, Y. Lao, W. Liu, Z. Zhang, X. You, and C. Zhang, “Mathematical </a:t>
            </a:r>
            <a:r>
              <a:rPr lang="en-IN" sz="2000" dirty="0" err="1">
                <a:latin typeface="Times New Roman" pitchFamily="18" charset="0"/>
                <a:cs typeface="Times New Roman" pitchFamily="18" charset="0"/>
              </a:rPr>
              <a:t>modeling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 analysis of strong physical unclonable functions,” IEEE Trans. </a:t>
            </a:r>
            <a:r>
              <a:rPr lang="en-IN" sz="2000" dirty="0" err="1">
                <a:latin typeface="Times New Roman" pitchFamily="18" charset="0"/>
                <a:cs typeface="Times New Roman" pitchFamily="18" charset="0"/>
              </a:rPr>
              <a:t>Comput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.-Aided Design Integer. Circuits Syst., vol. 39, no. 12, pp. 4426–4438, Dec. 2020. </a:t>
            </a:r>
          </a:p>
          <a:p>
            <a:pPr marL="457200" indent="-457200" algn="just">
              <a:buFont typeface="+mj-lt"/>
              <a:buAutoNum type="arabicPeriod" startAt="6"/>
            </a:pP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J. Delvaux, “Machine-learning attacks on </a:t>
            </a:r>
            <a:r>
              <a:rPr lang="en-IN" sz="2000" dirty="0" err="1">
                <a:latin typeface="Times New Roman" pitchFamily="18" charset="0"/>
                <a:cs typeface="Times New Roman" pitchFamily="18" charset="0"/>
              </a:rPr>
              <a:t>PolyPUFs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, OB-PUFs, RPUFs, LHS-PUFs and PUF-FSMs,”</a:t>
            </a:r>
            <a:r>
              <a:rPr lang="en-IN" sz="2000" dirty="0" err="1">
                <a:latin typeface="Times New Roman" pitchFamily="18" charset="0"/>
                <a:cs typeface="Times New Roman" pitchFamily="18" charset="0"/>
              </a:rPr>
              <a:t>IEEETrans.Inf.Forensics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 Security, vol. 14, no. 8, pp. 2043–2058, Aug. 2019. </a:t>
            </a:r>
          </a:p>
          <a:p>
            <a:pPr marL="457200" indent="-457200" algn="just">
              <a:buFont typeface="+mj-lt"/>
              <a:buAutoNum type="arabicPeriod" startAt="6"/>
            </a:pP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Y. Lao and K. K. </a:t>
            </a:r>
            <a:r>
              <a:rPr lang="en-IN" sz="2000" dirty="0" err="1">
                <a:latin typeface="Times New Roman" pitchFamily="18" charset="0"/>
                <a:cs typeface="Times New Roman" pitchFamily="18" charset="0"/>
              </a:rPr>
              <a:t>Parhi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, “Statistical analysis of MUX-based physical unclonablefunctions,”IEEETrans.Comput.-AidedDesignIntegr.Circuits Syst., vol. 33, no. 5, pp. 649–662, May 2014.</a:t>
            </a:r>
          </a:p>
          <a:p>
            <a:pPr marL="0" indent="0" algn="just">
              <a:buNone/>
            </a:pPr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DD7ADF-5DC6-7A84-7542-71002F4930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79322" y="426975"/>
            <a:ext cx="1066540" cy="1058591"/>
          </a:xfrm>
          <a:prstGeom prst="rect">
            <a:avLst/>
          </a:prstGeom>
        </p:spPr>
      </p:pic>
      <p:pic>
        <p:nvPicPr>
          <p:cNvPr id="5" name="Picture 7">
            <a:extLst>
              <a:ext uri="{FF2B5EF4-FFF2-40B4-BE49-F238E27FC236}">
                <a16:creationId xmlns:a16="http://schemas.microsoft.com/office/drawing/2014/main" id="{5C2033C7-F3A3-D1AB-0B9B-6D949C17C7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9824" y="373160"/>
            <a:ext cx="1638850" cy="1112406"/>
          </a:xfrm>
          <a:prstGeom prst="rect">
            <a:avLst/>
          </a:prstGeom>
        </p:spPr>
      </p:pic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10/10/2025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SECOND REVIEW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8671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8F96A-A9EC-483A-238D-F38DBD8FE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8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10/10/2025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SECOND REVIEW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1855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 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 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 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6A909FF2A0C6B4BB63F3D8F8BD5A5F3" ma:contentTypeVersion="12" ma:contentTypeDescription="Create a new document." ma:contentTypeScope="" ma:versionID="fd72fe775fd0487406d618e8ac1fefcc">
  <xsd:schema xmlns:xsd="http://www.w3.org/2001/XMLSchema" xmlns:xs="http://www.w3.org/2001/XMLSchema" xmlns:p="http://schemas.microsoft.com/office/2006/metadata/properties" xmlns:ns3="9a20c320-ecff-490d-a41e-5928cf94fe95" targetNamespace="http://schemas.microsoft.com/office/2006/metadata/properties" ma:root="true" ma:fieldsID="96944d2f30c2801d6d71498b75d94d1c" ns3:_="">
    <xsd:import namespace="9a20c320-ecff-490d-a41e-5928cf94fe95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Location" minOccurs="0"/>
                <xsd:element ref="ns3:MediaServiceOCR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a20c320-ecff-490d-a41e-5928cf94fe95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7" nillable="true" ma:displayName="Location" ma:indexed="true" ma:internalName="MediaServiceLocatio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a20c320-ecff-490d-a41e-5928cf94fe95" xsi:nil="true"/>
  </documentManagement>
</p:properties>
</file>

<file path=customXml/itemProps1.xml><?xml version="1.0" encoding="utf-8"?>
<ds:datastoreItem xmlns:ds="http://schemas.openxmlformats.org/officeDocument/2006/customXml" ds:itemID="{F9A62ADC-43C0-4A74-94F7-DE6AB9DF015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18DF7E3-5376-4E78-B650-5BF5688F9E84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9a20c320-ecff-490d-a41e-5928cf94fe95"/>
  </ds:schemaRefs>
</ds:datastoreItem>
</file>

<file path=customXml/itemProps3.xml><?xml version="1.0" encoding="utf-8"?>
<ds:datastoreItem xmlns:ds="http://schemas.openxmlformats.org/officeDocument/2006/customXml" ds:itemID="{41F0D4E0-77B1-4DD8-9B12-9743524EE5C1}">
  <ds:schemaRefs>
    <ds:schemaRef ds:uri="http://schemas.microsoft.com/office/2006/metadata/properties"/>
    <ds:schemaRef ds:uri="http://www.w3.org/2000/xmlns/"/>
    <ds:schemaRef ds:uri="9a20c320-ecff-490d-a41e-5928cf94fe95"/>
    <ds:schemaRef ds:uri="http://www.w3.org/2001/XMLSchema-instan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1809</TotalTime>
  <Words>1512</Words>
  <Application>Microsoft Office PowerPoint</Application>
  <PresentationFormat>Widescreen</PresentationFormat>
  <Paragraphs>189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DESIGN AND DEVELOPMENT OF PUF FOR HARDWARE SECURITY UPDATE</vt:lpstr>
      <vt:lpstr>PowerPoint Presentation</vt:lpstr>
      <vt:lpstr>LITERATURE SURVEY</vt:lpstr>
      <vt:lpstr>LITERATURE SURVEY</vt:lpstr>
      <vt:lpstr>PowerPoint Presentation</vt:lpstr>
      <vt:lpstr>BLOCK  DIAGRAM</vt:lpstr>
      <vt:lpstr> SCHEMATIC DIAGRAM</vt:lpstr>
      <vt:lpstr>Current Status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WORK FLOW</vt:lpstr>
      <vt:lpstr>REFERENCES</vt:lpstr>
      <vt:lpstr> REFERENCES(Cntd.)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 time adaptive beam prediction for V2V Communication</dc:title>
  <dc:creator>Microsoft Office User</dc:creator>
  <cp:lastModifiedBy>Dharshan Raghavan</cp:lastModifiedBy>
  <cp:revision>69</cp:revision>
  <dcterms:created xsi:type="dcterms:W3CDTF">2024-08-14T09:59:13Z</dcterms:created>
  <dcterms:modified xsi:type="dcterms:W3CDTF">2025-10-10T03:18:49Z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0x010100F6A909FF2A0C6B4BB63F3D8F8BD5A5F3</vt:lpwstr>
  </property>
</Properties>
</file>